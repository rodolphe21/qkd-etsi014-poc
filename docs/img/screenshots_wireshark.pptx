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1ADEBB-DFF4-5427-EF28-D13722D93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5AFDBB-A425-EB91-4A41-55EF90927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80F6F4-C945-63E3-CBD8-569DCA100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6FF-8981-4462-8BD2-7190A70D24C9}" type="datetimeFigureOut">
              <a:rPr lang="de-DE" smtClean="0"/>
              <a:t>09.08.2026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E0281F-6077-2DF5-5579-2F2D2A6E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4839B3-F697-4527-CD0D-9E5CB496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036-436D-4E48-A0AC-E5A9364F59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21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A04604-5B24-885E-5D48-A5BC1883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D3D592-7613-6703-7390-661EE908A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D69F60-8E86-A1FA-8A5E-54AFF6D3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6FF-8981-4462-8BD2-7190A70D24C9}" type="datetimeFigureOut">
              <a:rPr lang="de-DE" smtClean="0"/>
              <a:t>09.08.2026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DB2F8-2E68-DD66-5A21-8DECC046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190010-8613-6766-ED44-468F2A8FA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036-436D-4E48-A0AC-E5A9364F59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855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3AFFFC-3A2D-6F8B-20C2-CE0F120DC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36997D-DEB2-EC12-55E8-07D23EA90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EA5792-6B99-DB9F-241F-720A25D7B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6FF-8981-4462-8BD2-7190A70D24C9}" type="datetimeFigureOut">
              <a:rPr lang="de-DE" smtClean="0"/>
              <a:t>09.08.2026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06AE60-C655-DB8D-8B8E-0FDF62D1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CF2D66-CFA0-32A3-3009-2D764FFC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036-436D-4E48-A0AC-E5A9364F59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302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85B5E2-00CA-C862-0E70-C92828FE2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10321E-0FE4-10DF-6F9B-1EE38FEFD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E541B0-1336-C6EA-2E45-9EBF47FF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F97F3D-1A8F-1C46-2CB0-B0BCDA9B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6FF-8981-4462-8BD2-7190A70D24C9}" type="datetimeFigureOut">
              <a:rPr lang="de-DE" smtClean="0"/>
              <a:t>09.08.2026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A9700A-72AB-2AE9-F1BC-30D7E41C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989E05-5623-E069-AD24-22EC8630F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036-436D-4E48-A0AC-E5A9364F59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71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8CBD37-F879-6CBD-7377-03677CC0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3DA1BB-02BC-7767-1FCC-E2B1C0399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9646C2-390D-82E5-98CB-6901F0350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DB8410-C5FC-E55B-0CBC-06F3EF27F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FE36FA7-3579-B0A7-DCF9-E888EF4F3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B390FC5-ECE9-D036-194B-B1936DD8D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6FF-8981-4462-8BD2-7190A70D24C9}" type="datetimeFigureOut">
              <a:rPr lang="de-DE" smtClean="0"/>
              <a:t>09.08.2026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8D11DFC-9761-217A-4367-95703125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38C8E82-B287-2076-8EBC-70190B12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036-436D-4E48-A0AC-E5A9364F59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895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3DC9A-D1C8-4CAD-8045-3634CCA11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213B37-B3C4-A6B7-0E29-8E7B86703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6FF-8981-4462-8BD2-7190A70D24C9}" type="datetimeFigureOut">
              <a:rPr lang="de-DE" smtClean="0"/>
              <a:t>09.08.2026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8EE1CA-6CAA-6725-60E3-0C7CE7E0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7243FEE-1EB8-8CF0-BB2B-45E030964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036-436D-4E48-A0AC-E5A9364F59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828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4DBBB30-A58A-854E-F655-7F2535B7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6FF-8981-4462-8BD2-7190A70D24C9}" type="datetimeFigureOut">
              <a:rPr lang="de-DE" smtClean="0"/>
              <a:t>09.08.2026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EBD1E7A-B4B5-90E3-3B93-89801E59B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F183E1-8149-F4A7-6E0A-B809FCA9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036-436D-4E48-A0AC-E5A9364F59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8490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77D780-D01B-919B-952D-9A487BFB3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B2A4E0-3EBD-ACAE-9F3F-0F1EA0344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902DE19-AE31-6AB2-752D-3393E78C9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73C1DA-56AF-50C6-812B-6AE010077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6FF-8981-4462-8BD2-7190A70D24C9}" type="datetimeFigureOut">
              <a:rPr lang="de-DE" smtClean="0"/>
              <a:t>09.08.2026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7754BA-D8D7-F373-EEE0-2155EC70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D192E1-46C0-B9DF-A76F-205D2D09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036-436D-4E48-A0AC-E5A9364F59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0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61531-62BA-D5C0-DA3F-9EA64C6C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19668C0-E281-5CB6-0AA8-025050343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A5688C-9AA8-BC4C-0800-9365D24FC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310D3D-EEA5-C3B9-1304-217D5847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6FF-8981-4462-8BD2-7190A70D24C9}" type="datetimeFigureOut">
              <a:rPr lang="de-DE" smtClean="0"/>
              <a:t>09.08.2026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E04631-4723-59EC-1BD1-09571A62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70320C-A063-69C1-D440-6FC05862D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036-436D-4E48-A0AC-E5A9364F59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440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723B36-58C9-1147-AF7B-DD6433DD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5BC5E4-8B78-BF50-1F83-94E7CAA92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D5AE9D-EB51-711E-CAD3-CE73C5C80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6FF-8981-4462-8BD2-7190A70D24C9}" type="datetimeFigureOut">
              <a:rPr lang="de-DE" smtClean="0"/>
              <a:t>09.08.2026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1FEF9A-75D2-13DA-052B-CC5F188A5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DD9C08-1D51-C727-65CD-D290724C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036-436D-4E48-A0AC-E5A9364F59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7716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B77BF4D-927A-58AD-6777-F4CB59D39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0E3A59C-333F-861C-89D7-3A813A448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56DCF9-7D5D-C071-8E38-2E0CB09BE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6FF-8981-4462-8BD2-7190A70D24C9}" type="datetimeFigureOut">
              <a:rPr lang="de-DE" smtClean="0"/>
              <a:t>09.08.2026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E84B3F-F307-E085-7C54-73CC208D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F7F180-685A-F773-A3E1-E6D0293E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036-436D-4E48-A0AC-E5A9364F59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1043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38F6BE-599A-A53E-3019-5BE4D294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E0F099-A53A-3E84-90A7-B1F8A7CE8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AA453C-136E-B904-0528-FB9C06B4E0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0E6FF-8981-4462-8BD2-7190A70D24C9}" type="datetimeFigureOut">
              <a:rPr lang="de-DE" smtClean="0"/>
              <a:t>09.08.2026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F8AE03-B430-D5AF-80DB-E5FC88FC9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23B439-7370-05AD-E038-20F02E573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F036-436D-4E48-A0AC-E5A9364F59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54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5772BA90-E611-ABED-8206-788D9B312DB2}"/>
              </a:ext>
            </a:extLst>
          </p:cNvPr>
          <p:cNvSpPr txBox="1"/>
          <p:nvPr/>
        </p:nvSpPr>
        <p:spPr>
          <a:xfrm>
            <a:off x="1419606" y="272713"/>
            <a:ext cx="1050417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GET</a:t>
            </a:r>
            <a:r>
              <a:rPr lang="de-DE" dirty="0">
                <a:solidFill>
                  <a:srgbClr val="7F0000"/>
                </a:solidFill>
                <a:effectLst/>
              </a:rPr>
              <a:t> /</a:t>
            </a:r>
            <a:r>
              <a:rPr lang="de-DE" dirty="0" err="1">
                <a:solidFill>
                  <a:srgbClr val="7F0000"/>
                </a:solidFill>
                <a:effectLst/>
              </a:rPr>
              <a:t>api</a:t>
            </a:r>
            <a:r>
              <a:rPr lang="de-DE" dirty="0">
                <a:solidFill>
                  <a:srgbClr val="7F0000"/>
                </a:solidFill>
                <a:effectLst/>
              </a:rPr>
              <a:t>/v1/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keys</a:t>
            </a:r>
            <a:r>
              <a:rPr lang="de-DE" dirty="0">
                <a:solidFill>
                  <a:srgbClr val="7F0000"/>
                </a:solidFill>
                <a:effectLst/>
              </a:rPr>
              <a:t>/sae-2/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enc_keys</a:t>
            </a:r>
            <a:r>
              <a:rPr lang="de-DE" dirty="0" err="1">
                <a:solidFill>
                  <a:srgbClr val="7F0000"/>
                </a:solidFill>
                <a:effectLst/>
              </a:rPr>
              <a:t>?number</a:t>
            </a:r>
            <a:r>
              <a:rPr lang="de-DE" dirty="0">
                <a:solidFill>
                  <a:srgbClr val="7F0000"/>
                </a:solidFill>
                <a:effectLst/>
              </a:rPr>
              <a:t>=2&amp;size=1024 HTTP/1.1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-Encoding: </a:t>
            </a:r>
            <a:r>
              <a:rPr lang="de-DE" dirty="0" err="1">
                <a:solidFill>
                  <a:srgbClr val="7F0000"/>
                </a:solidFill>
                <a:effectLst/>
              </a:rPr>
              <a:t>identity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Host: 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kme-1</a:t>
            </a:r>
            <a:r>
              <a:rPr lang="de-DE" dirty="0">
                <a:solidFill>
                  <a:srgbClr val="7F0000"/>
                </a:solidFill>
                <a:effectLst/>
              </a:rPr>
              <a:t>.acct-4627.etsi-qkd-api.qukaydee.com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User-Agent: Python-</a:t>
            </a:r>
            <a:r>
              <a:rPr lang="de-DE" dirty="0" err="1">
                <a:solidFill>
                  <a:srgbClr val="7F0000"/>
                </a:solidFill>
                <a:effectLst/>
              </a:rPr>
              <a:t>urllib</a:t>
            </a:r>
            <a:r>
              <a:rPr lang="de-DE" dirty="0">
                <a:solidFill>
                  <a:srgbClr val="7F0000"/>
                </a:solidFill>
                <a:effectLst/>
              </a:rPr>
              <a:t>/3.12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: </a:t>
            </a:r>
            <a:r>
              <a:rPr lang="de-DE" dirty="0" err="1">
                <a:solidFill>
                  <a:srgbClr val="7F0000"/>
                </a:solidFill>
                <a:effectLst/>
              </a:rPr>
              <a:t>application</a:t>
            </a:r>
            <a:r>
              <a:rPr lang="de-DE" dirty="0">
                <a:solidFill>
                  <a:srgbClr val="7F0000"/>
                </a:solidFill>
                <a:effectLst/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7F0000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br>
              <a:rPr lang="de-DE" dirty="0">
                <a:solidFill>
                  <a:srgbClr val="7F0000"/>
                </a:solidFill>
                <a:effectLst/>
              </a:rPr>
            </a:br>
            <a:r>
              <a:rPr lang="de-DE" dirty="0">
                <a:solidFill>
                  <a:srgbClr val="00007F"/>
                </a:solidFill>
                <a:effectLst/>
              </a:rPr>
              <a:t>HTTP/1.1 200 OK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Server: </a:t>
            </a:r>
            <a:r>
              <a:rPr lang="de-DE" dirty="0" err="1">
                <a:solidFill>
                  <a:srgbClr val="00007F"/>
                </a:solidFill>
                <a:effectLst/>
              </a:rPr>
              <a:t>nginx</a:t>
            </a:r>
            <a:r>
              <a:rPr lang="de-DE" dirty="0">
                <a:solidFill>
                  <a:srgbClr val="00007F"/>
                </a:solidFill>
                <a:effectLst/>
              </a:rPr>
              <a:t>/1.18.0 (Ubuntu)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Date: </a:t>
            </a:r>
            <a:r>
              <a:rPr lang="de-DE" dirty="0" err="1">
                <a:solidFill>
                  <a:srgbClr val="00007F"/>
                </a:solidFill>
                <a:effectLst/>
              </a:rPr>
              <a:t>Wed</a:t>
            </a:r>
            <a:r>
              <a:rPr lang="de-DE" dirty="0">
                <a:solidFill>
                  <a:srgbClr val="00007F"/>
                </a:solidFill>
                <a:effectLst/>
              </a:rPr>
              <a:t>, 05 Aug 2026 14:50:20 GMT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Content-Type: </a:t>
            </a:r>
            <a:r>
              <a:rPr lang="de-DE" dirty="0" err="1">
                <a:solidFill>
                  <a:srgbClr val="00007F"/>
                </a:solidFill>
                <a:effectLst/>
              </a:rPr>
              <a:t>application</a:t>
            </a:r>
            <a:r>
              <a:rPr lang="de-DE" dirty="0">
                <a:solidFill>
                  <a:srgbClr val="00007F"/>
                </a:solidFill>
                <a:effectLst/>
              </a:rPr>
              <a:t>/</a:t>
            </a:r>
            <a:r>
              <a:rPr lang="de-DE" dirty="0" err="1">
                <a:solidFill>
                  <a:srgbClr val="00007F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</a:t>
            </a:r>
            <a:r>
              <a:rPr lang="de-DE" dirty="0" err="1">
                <a:solidFill>
                  <a:srgbClr val="00007F"/>
                </a:solidFill>
                <a:effectLst/>
              </a:rPr>
              <a:t>Length</a:t>
            </a:r>
            <a:r>
              <a:rPr lang="de-DE" dirty="0">
                <a:solidFill>
                  <a:srgbClr val="00007F"/>
                </a:solidFill>
                <a:effectLst/>
              </a:rPr>
              <a:t>: 472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00007F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Vary: </a:t>
            </a:r>
            <a:r>
              <a:rPr lang="de-DE" dirty="0" err="1">
                <a:solidFill>
                  <a:srgbClr val="00007F"/>
                </a:solidFill>
                <a:effectLst/>
              </a:rPr>
              <a:t>Accept</a:t>
            </a:r>
            <a:r>
              <a:rPr lang="de-DE" dirty="0">
                <a:solidFill>
                  <a:srgbClr val="00007F"/>
                </a:solidFill>
                <a:effectLst/>
              </a:rPr>
              <a:t>, Cookie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00007F"/>
                </a:solidFill>
                <a:effectLst/>
              </a:rPr>
              <a:t>Allow</a:t>
            </a:r>
            <a:r>
              <a:rPr lang="de-DE" dirty="0">
                <a:solidFill>
                  <a:srgbClr val="00007F"/>
                </a:solidFill>
                <a:effectLst/>
              </a:rPr>
              <a:t>: GET, POST, HEAD, OPTIONS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[…]</a:t>
            </a:r>
            <a:endParaRPr lang="de-DE" dirty="0">
              <a:effectLst/>
            </a:endParaRPr>
          </a:p>
          <a:p>
            <a:pPr marL="0" marR="0" indent="0">
              <a:buNone/>
            </a:pPr>
            <a:endParaRPr lang="de-DE" dirty="0">
              <a:solidFill>
                <a:srgbClr val="00007F"/>
              </a:solidFill>
              <a:effectLst/>
            </a:endParaRPr>
          </a:p>
          <a:p>
            <a:pPr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{"</a:t>
            </a:r>
            <a:r>
              <a:rPr lang="de-DE" dirty="0" err="1">
                <a:solidFill>
                  <a:srgbClr val="00007F"/>
                </a:solidFill>
                <a:effectLst/>
              </a:rPr>
              <a:t>keys</a:t>
            </a:r>
            <a:r>
              <a:rPr lang="de-DE" dirty="0">
                <a:solidFill>
                  <a:srgbClr val="00007F"/>
                </a:solidFill>
                <a:effectLst/>
              </a:rPr>
              <a:t>":[{"key_ID":"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4449fe18-f661-42cb-8480-a19f79a53116</a:t>
            </a:r>
            <a:r>
              <a:rPr lang="de-DE" dirty="0">
                <a:solidFill>
                  <a:srgbClr val="00007F"/>
                </a:solidFill>
                <a:effectLst/>
              </a:rPr>
              <a:t>","key":"Fy7k1XC … rddSj0="},{"key_ID":"38673 … f06","key":"EbSIb2n … 4Es="}]}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982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6E6A4BBA-6920-6ED1-DA21-F9E9455427BA}"/>
              </a:ext>
            </a:extLst>
          </p:cNvPr>
          <p:cNvSpPr txBox="1"/>
          <p:nvPr/>
        </p:nvSpPr>
        <p:spPr>
          <a:xfrm>
            <a:off x="1593342" y="168343"/>
            <a:ext cx="841933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GET</a:t>
            </a:r>
            <a:r>
              <a:rPr lang="de-DE" dirty="0">
                <a:solidFill>
                  <a:srgbClr val="7F0000"/>
                </a:solidFill>
                <a:effectLst/>
              </a:rPr>
              <a:t> /</a:t>
            </a:r>
            <a:r>
              <a:rPr lang="de-DE" dirty="0" err="1">
                <a:solidFill>
                  <a:srgbClr val="7F0000"/>
                </a:solidFill>
                <a:effectLst/>
              </a:rPr>
              <a:t>api</a:t>
            </a:r>
            <a:r>
              <a:rPr lang="de-DE" dirty="0">
                <a:solidFill>
                  <a:srgbClr val="7F0000"/>
                </a:solidFill>
                <a:effectLst/>
              </a:rPr>
              <a:t>/v1/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keys</a:t>
            </a:r>
            <a:r>
              <a:rPr lang="de-DE" dirty="0">
                <a:solidFill>
                  <a:srgbClr val="7F0000"/>
                </a:solidFill>
                <a:effectLst/>
              </a:rPr>
              <a:t>/sae-1/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dec_keys</a:t>
            </a:r>
            <a:r>
              <a:rPr lang="de-DE" dirty="0" err="1">
                <a:solidFill>
                  <a:srgbClr val="7F0000"/>
                </a:solidFill>
                <a:effectLst/>
              </a:rPr>
              <a:t>?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key_ID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=4449fe18-f661-42cb-8480-a19f79a53116 </a:t>
            </a:r>
            <a:r>
              <a:rPr lang="de-DE" dirty="0">
                <a:solidFill>
                  <a:srgbClr val="7F0000"/>
                </a:solidFill>
                <a:effectLst/>
              </a:rPr>
              <a:t>HTTP/1.1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-Encoding: </a:t>
            </a:r>
            <a:r>
              <a:rPr lang="de-DE" dirty="0" err="1">
                <a:solidFill>
                  <a:srgbClr val="7F0000"/>
                </a:solidFill>
                <a:effectLst/>
              </a:rPr>
              <a:t>identity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Host: 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kme-2</a:t>
            </a:r>
            <a:r>
              <a:rPr lang="de-DE" dirty="0">
                <a:solidFill>
                  <a:srgbClr val="7F0000"/>
                </a:solidFill>
                <a:effectLst/>
              </a:rPr>
              <a:t>.acct-4627.etsi-qkd-api.qukaydee.com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User-Agent: Python-</a:t>
            </a:r>
            <a:r>
              <a:rPr lang="de-DE" dirty="0" err="1">
                <a:solidFill>
                  <a:srgbClr val="7F0000"/>
                </a:solidFill>
                <a:effectLst/>
              </a:rPr>
              <a:t>urllib</a:t>
            </a:r>
            <a:r>
              <a:rPr lang="de-DE" dirty="0">
                <a:solidFill>
                  <a:srgbClr val="7F0000"/>
                </a:solidFill>
                <a:effectLst/>
              </a:rPr>
              <a:t>/3.12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: </a:t>
            </a:r>
            <a:r>
              <a:rPr lang="de-DE" dirty="0" err="1">
                <a:solidFill>
                  <a:srgbClr val="7F0000"/>
                </a:solidFill>
                <a:effectLst/>
              </a:rPr>
              <a:t>application</a:t>
            </a:r>
            <a:r>
              <a:rPr lang="de-DE" dirty="0">
                <a:solidFill>
                  <a:srgbClr val="7F0000"/>
                </a:solidFill>
                <a:effectLst/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7F0000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br>
              <a:rPr lang="de-DE" dirty="0">
                <a:solidFill>
                  <a:srgbClr val="7F0000"/>
                </a:solidFill>
                <a:effectLst/>
              </a:rPr>
            </a:br>
            <a:r>
              <a:rPr lang="de-DE" dirty="0">
                <a:solidFill>
                  <a:srgbClr val="00007F"/>
                </a:solidFill>
                <a:effectLst/>
              </a:rPr>
              <a:t>HTTP/1.1 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200 OK</a:t>
            </a:r>
            <a:endParaRPr lang="de-DE" dirty="0">
              <a:effectLst/>
              <a:highlight>
                <a:srgbClr val="00FF00"/>
              </a:highlight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Server: </a:t>
            </a:r>
            <a:r>
              <a:rPr lang="de-DE" dirty="0" err="1">
                <a:solidFill>
                  <a:srgbClr val="00007F"/>
                </a:solidFill>
                <a:effectLst/>
              </a:rPr>
              <a:t>nginx</a:t>
            </a:r>
            <a:r>
              <a:rPr lang="de-DE" dirty="0">
                <a:solidFill>
                  <a:srgbClr val="00007F"/>
                </a:solidFill>
                <a:effectLst/>
              </a:rPr>
              <a:t>/1.18.0 (Ubuntu)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Date: </a:t>
            </a:r>
            <a:r>
              <a:rPr lang="de-DE" dirty="0" err="1">
                <a:solidFill>
                  <a:srgbClr val="00007F"/>
                </a:solidFill>
                <a:effectLst/>
              </a:rPr>
              <a:t>Wed</a:t>
            </a:r>
            <a:r>
              <a:rPr lang="de-DE" dirty="0">
                <a:solidFill>
                  <a:srgbClr val="00007F"/>
                </a:solidFill>
                <a:effectLst/>
              </a:rPr>
              <a:t>, 05 Aug 2026 14:50:21 GMT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Content-Type: </a:t>
            </a:r>
            <a:r>
              <a:rPr lang="de-DE" dirty="0" err="1">
                <a:solidFill>
                  <a:srgbClr val="00007F"/>
                </a:solidFill>
                <a:effectLst/>
              </a:rPr>
              <a:t>application</a:t>
            </a:r>
            <a:r>
              <a:rPr lang="de-DE" dirty="0">
                <a:solidFill>
                  <a:srgbClr val="00007F"/>
                </a:solidFill>
                <a:effectLst/>
              </a:rPr>
              <a:t>/</a:t>
            </a:r>
            <a:r>
              <a:rPr lang="de-DE" dirty="0" err="1">
                <a:solidFill>
                  <a:srgbClr val="00007F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</a:t>
            </a:r>
            <a:r>
              <a:rPr lang="de-DE" dirty="0" err="1">
                <a:solidFill>
                  <a:srgbClr val="00007F"/>
                </a:solidFill>
                <a:effectLst/>
              </a:rPr>
              <a:t>Length</a:t>
            </a:r>
            <a:r>
              <a:rPr lang="de-DE" dirty="0">
                <a:solidFill>
                  <a:srgbClr val="00007F"/>
                </a:solidFill>
                <a:effectLst/>
              </a:rPr>
              <a:t>: 241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00007F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Vary: </a:t>
            </a:r>
            <a:r>
              <a:rPr lang="de-DE" dirty="0" err="1">
                <a:solidFill>
                  <a:srgbClr val="00007F"/>
                </a:solidFill>
                <a:effectLst/>
              </a:rPr>
              <a:t>Accept</a:t>
            </a:r>
            <a:r>
              <a:rPr lang="de-DE" dirty="0">
                <a:solidFill>
                  <a:srgbClr val="00007F"/>
                </a:solidFill>
                <a:effectLst/>
              </a:rPr>
              <a:t>, Cookie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00007F"/>
                </a:solidFill>
                <a:effectLst/>
              </a:rPr>
              <a:t>Allow</a:t>
            </a:r>
            <a:r>
              <a:rPr lang="de-DE" dirty="0">
                <a:solidFill>
                  <a:srgbClr val="00007F"/>
                </a:solidFill>
                <a:effectLst/>
              </a:rPr>
              <a:t>: GET, POST, HEAD, OPTIONS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[…]</a:t>
            </a:r>
          </a:p>
          <a:p>
            <a:pPr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{"</a:t>
            </a:r>
            <a:r>
              <a:rPr lang="de-DE" dirty="0" err="1">
                <a:solidFill>
                  <a:srgbClr val="00007F"/>
                </a:solidFill>
                <a:effectLst/>
              </a:rPr>
              <a:t>keys</a:t>
            </a:r>
            <a:r>
              <a:rPr lang="de-DE" dirty="0">
                <a:solidFill>
                  <a:srgbClr val="00007F"/>
                </a:solidFill>
                <a:effectLst/>
              </a:rPr>
              <a:t>":[{"key_ID":"4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449fe18-f661-42cb-8480-a19f79a53116</a:t>
            </a:r>
            <a:r>
              <a:rPr lang="de-DE" dirty="0">
                <a:solidFill>
                  <a:srgbClr val="00007F"/>
                </a:solidFill>
                <a:effectLst/>
              </a:rPr>
              <a:t>","key":"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Fy7k1XC</a:t>
            </a:r>
            <a:r>
              <a:rPr lang="de-DE" dirty="0">
                <a:solidFill>
                  <a:srgbClr val="00007F"/>
                </a:solidFill>
                <a:effectLst/>
              </a:rPr>
              <a:t> … IrddSj0="}]}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187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7F11F8A7-4C33-A99E-809F-28A86EB283EA}"/>
              </a:ext>
            </a:extLst>
          </p:cNvPr>
          <p:cNvSpPr txBox="1"/>
          <p:nvPr/>
        </p:nvSpPr>
        <p:spPr>
          <a:xfrm>
            <a:off x="1216152" y="466309"/>
            <a:ext cx="93268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GET</a:t>
            </a:r>
            <a:r>
              <a:rPr lang="de-DE" dirty="0">
                <a:solidFill>
                  <a:srgbClr val="7F0000"/>
                </a:solidFill>
                <a:effectLst/>
              </a:rPr>
              <a:t> /</a:t>
            </a:r>
            <a:r>
              <a:rPr lang="de-DE" dirty="0" err="1">
                <a:solidFill>
                  <a:srgbClr val="7F0000"/>
                </a:solidFill>
                <a:effectLst/>
              </a:rPr>
              <a:t>api</a:t>
            </a:r>
            <a:r>
              <a:rPr lang="de-DE" dirty="0">
                <a:solidFill>
                  <a:srgbClr val="7F0000"/>
                </a:solidFill>
                <a:effectLst/>
              </a:rPr>
              <a:t>/v1/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keys</a:t>
            </a:r>
            <a:r>
              <a:rPr lang="de-DE" dirty="0">
                <a:solidFill>
                  <a:srgbClr val="7F0000"/>
                </a:solidFill>
                <a:effectLst/>
              </a:rPr>
              <a:t>/sae-1/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dec_keys</a:t>
            </a:r>
            <a:r>
              <a:rPr lang="de-DE" dirty="0" err="1">
                <a:solidFill>
                  <a:srgbClr val="7F0000"/>
                </a:solidFill>
                <a:effectLst/>
              </a:rPr>
              <a:t>?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key_ID</a:t>
            </a:r>
            <a:r>
              <a:rPr lang="de-DE" dirty="0">
                <a:solidFill>
                  <a:srgbClr val="7F0000"/>
                </a:solidFill>
                <a:effectLst/>
              </a:rPr>
              <a:t>=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4449fe18-f661-42cb-8480-a19f79a53116</a:t>
            </a:r>
            <a:r>
              <a:rPr lang="de-DE" dirty="0">
                <a:solidFill>
                  <a:srgbClr val="7F0000"/>
                </a:solidFill>
                <a:effectLst/>
              </a:rPr>
              <a:t> HTTP/1.1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-Encoding: </a:t>
            </a:r>
            <a:r>
              <a:rPr lang="de-DE" dirty="0" err="1">
                <a:solidFill>
                  <a:srgbClr val="7F0000"/>
                </a:solidFill>
                <a:effectLst/>
              </a:rPr>
              <a:t>identity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Host: 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kme-2</a:t>
            </a:r>
            <a:r>
              <a:rPr lang="de-DE" dirty="0">
                <a:solidFill>
                  <a:srgbClr val="7F0000"/>
                </a:solidFill>
                <a:effectLst/>
              </a:rPr>
              <a:t>.acct-4627.etsi-qkd-api.qukaydee.com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User-Agent: Python-</a:t>
            </a:r>
            <a:r>
              <a:rPr lang="de-DE" dirty="0" err="1">
                <a:solidFill>
                  <a:srgbClr val="7F0000"/>
                </a:solidFill>
                <a:effectLst/>
              </a:rPr>
              <a:t>urllib</a:t>
            </a:r>
            <a:r>
              <a:rPr lang="de-DE" dirty="0">
                <a:solidFill>
                  <a:srgbClr val="7F0000"/>
                </a:solidFill>
                <a:effectLst/>
              </a:rPr>
              <a:t>/3.12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: </a:t>
            </a:r>
            <a:r>
              <a:rPr lang="de-DE" dirty="0" err="1">
                <a:solidFill>
                  <a:srgbClr val="7F0000"/>
                </a:solidFill>
                <a:effectLst/>
              </a:rPr>
              <a:t>application</a:t>
            </a:r>
            <a:r>
              <a:rPr lang="de-DE" dirty="0">
                <a:solidFill>
                  <a:srgbClr val="7F0000"/>
                </a:solidFill>
                <a:effectLst/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7F0000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endParaRPr lang="de-DE" dirty="0">
              <a:solidFill>
                <a:srgbClr val="7F0000"/>
              </a:solidFill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HTTP/1.1 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404</a:t>
            </a:r>
            <a:r>
              <a:rPr lang="de-DE" dirty="0">
                <a:solidFill>
                  <a:srgbClr val="00007F"/>
                </a:solidFill>
                <a:effectLst/>
              </a:rPr>
              <a:t> Not Found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Server: </a:t>
            </a:r>
            <a:r>
              <a:rPr lang="de-DE" dirty="0" err="1">
                <a:solidFill>
                  <a:srgbClr val="00007F"/>
                </a:solidFill>
                <a:effectLst/>
              </a:rPr>
              <a:t>nginx</a:t>
            </a:r>
            <a:r>
              <a:rPr lang="de-DE" dirty="0">
                <a:solidFill>
                  <a:srgbClr val="00007F"/>
                </a:solidFill>
                <a:effectLst/>
              </a:rPr>
              <a:t>/1.18.0 (Ubuntu)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Date: </a:t>
            </a:r>
            <a:r>
              <a:rPr lang="de-DE" dirty="0" err="1">
                <a:solidFill>
                  <a:srgbClr val="00007F"/>
                </a:solidFill>
                <a:effectLst/>
              </a:rPr>
              <a:t>Wed</a:t>
            </a:r>
            <a:r>
              <a:rPr lang="de-DE" dirty="0">
                <a:solidFill>
                  <a:srgbClr val="00007F"/>
                </a:solidFill>
                <a:effectLst/>
              </a:rPr>
              <a:t>, 05 Aug 2026 14:50:21 GMT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Content-Type: </a:t>
            </a:r>
            <a:r>
              <a:rPr lang="de-DE" dirty="0" err="1">
                <a:solidFill>
                  <a:srgbClr val="00007F"/>
                </a:solidFill>
                <a:effectLst/>
              </a:rPr>
              <a:t>application</a:t>
            </a:r>
            <a:r>
              <a:rPr lang="de-DE" dirty="0">
                <a:solidFill>
                  <a:srgbClr val="00007F"/>
                </a:solidFill>
                <a:effectLst/>
              </a:rPr>
              <a:t>/</a:t>
            </a:r>
            <a:r>
              <a:rPr lang="de-DE" dirty="0" err="1">
                <a:solidFill>
                  <a:srgbClr val="00007F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</a:t>
            </a:r>
            <a:r>
              <a:rPr lang="de-DE" dirty="0" err="1">
                <a:solidFill>
                  <a:srgbClr val="00007F"/>
                </a:solidFill>
                <a:effectLst/>
              </a:rPr>
              <a:t>Length</a:t>
            </a:r>
            <a:r>
              <a:rPr lang="de-DE" dirty="0">
                <a:solidFill>
                  <a:srgbClr val="00007F"/>
                </a:solidFill>
                <a:effectLst/>
              </a:rPr>
              <a:t>: 89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00007F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Vary: </a:t>
            </a:r>
            <a:r>
              <a:rPr lang="de-DE" dirty="0" err="1">
                <a:solidFill>
                  <a:srgbClr val="00007F"/>
                </a:solidFill>
                <a:effectLst/>
              </a:rPr>
              <a:t>Accept</a:t>
            </a:r>
            <a:r>
              <a:rPr lang="de-DE" dirty="0">
                <a:solidFill>
                  <a:srgbClr val="00007F"/>
                </a:solidFill>
                <a:effectLst/>
              </a:rPr>
              <a:t>, Cookie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00007F"/>
                </a:solidFill>
                <a:effectLst/>
              </a:rPr>
              <a:t>Allow</a:t>
            </a:r>
            <a:r>
              <a:rPr lang="de-DE" dirty="0">
                <a:solidFill>
                  <a:srgbClr val="00007F"/>
                </a:solidFill>
                <a:effectLst/>
              </a:rPr>
              <a:t>: GET, POST, HEAD, OPTIONS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[…]</a:t>
            </a:r>
          </a:p>
          <a:p>
            <a:pPr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{"</a:t>
            </a:r>
            <a:r>
              <a:rPr lang="de-DE" dirty="0" err="1">
                <a:solidFill>
                  <a:srgbClr val="00007F"/>
                </a:solidFill>
                <a:effectLst/>
              </a:rPr>
              <a:t>message</a:t>
            </a:r>
            <a:r>
              <a:rPr lang="de-DE" dirty="0">
                <a:solidFill>
                  <a:srgbClr val="00007F"/>
                </a:solidFill>
                <a:effectLst/>
              </a:rPr>
              <a:t>":"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Key not </a:t>
            </a:r>
            <a:r>
              <a:rPr lang="de-DE" dirty="0" err="1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found</a:t>
            </a:r>
            <a:r>
              <a:rPr lang="de-DE" dirty="0">
                <a:solidFill>
                  <a:srgbClr val="00007F"/>
                </a:solidFill>
                <a:effectLst/>
              </a:rPr>
              <a:t>","</a:t>
            </a:r>
            <a:r>
              <a:rPr lang="de-DE" dirty="0" err="1">
                <a:solidFill>
                  <a:srgbClr val="00007F"/>
                </a:solidFill>
                <a:effectLst/>
              </a:rPr>
              <a:t>details</a:t>
            </a:r>
            <a:r>
              <a:rPr lang="de-DE" dirty="0">
                <a:solidFill>
                  <a:srgbClr val="00007F"/>
                </a:solidFill>
                <a:effectLst/>
              </a:rPr>
              <a:t>":[{"key_ID":"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4449fe18-f661-42cb-8480-a19f79a53116</a:t>
            </a:r>
            <a:r>
              <a:rPr lang="de-DE" dirty="0">
                <a:solidFill>
                  <a:srgbClr val="00007F"/>
                </a:solidFill>
                <a:effectLst/>
              </a:rPr>
              <a:t>"}]}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8582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8EA05701-3F0F-37D7-4610-F1257E818338}"/>
              </a:ext>
            </a:extLst>
          </p:cNvPr>
          <p:cNvSpPr txBox="1"/>
          <p:nvPr/>
        </p:nvSpPr>
        <p:spPr>
          <a:xfrm>
            <a:off x="1044702" y="189310"/>
            <a:ext cx="1059561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GET</a:t>
            </a:r>
            <a:r>
              <a:rPr lang="de-DE" dirty="0">
                <a:solidFill>
                  <a:srgbClr val="7F0000"/>
                </a:solidFill>
                <a:effectLst/>
              </a:rPr>
              <a:t> /</a:t>
            </a:r>
            <a:r>
              <a:rPr lang="de-DE" dirty="0" err="1">
                <a:solidFill>
                  <a:srgbClr val="7F0000"/>
                </a:solidFill>
                <a:effectLst/>
              </a:rPr>
              <a:t>api</a:t>
            </a:r>
            <a:r>
              <a:rPr lang="de-DE" dirty="0">
                <a:solidFill>
                  <a:srgbClr val="7F0000"/>
                </a:solidFill>
                <a:effectLst/>
              </a:rPr>
              <a:t>/v1/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keys</a:t>
            </a:r>
            <a:r>
              <a:rPr lang="de-DE" dirty="0">
                <a:solidFill>
                  <a:srgbClr val="7F0000"/>
                </a:solidFill>
                <a:effectLst/>
              </a:rPr>
              <a:t>/sae-2/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enc_keys</a:t>
            </a:r>
            <a:r>
              <a:rPr lang="de-DE" dirty="0" err="1">
                <a:solidFill>
                  <a:srgbClr val="7F0000"/>
                </a:solidFill>
                <a:effectLst/>
              </a:rPr>
              <a:t>?number</a:t>
            </a:r>
            <a:r>
              <a:rPr lang="de-DE" dirty="0">
                <a:solidFill>
                  <a:srgbClr val="7F0000"/>
                </a:solidFill>
                <a:effectLst/>
              </a:rPr>
              <a:t>=1&amp;size=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FFFF00"/>
                </a:highlight>
              </a:rPr>
              <a:t>100008</a:t>
            </a:r>
            <a:r>
              <a:rPr lang="de-DE" dirty="0">
                <a:solidFill>
                  <a:srgbClr val="7F0000"/>
                </a:solidFill>
                <a:effectLst/>
              </a:rPr>
              <a:t> HTTP/1.1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-Encoding: </a:t>
            </a:r>
            <a:r>
              <a:rPr lang="de-DE" dirty="0" err="1">
                <a:solidFill>
                  <a:srgbClr val="7F0000"/>
                </a:solidFill>
                <a:effectLst/>
              </a:rPr>
              <a:t>identity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Host: 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kme-1</a:t>
            </a:r>
            <a:r>
              <a:rPr lang="de-DE" dirty="0">
                <a:solidFill>
                  <a:srgbClr val="7F0000"/>
                </a:solidFill>
                <a:effectLst/>
              </a:rPr>
              <a:t>.acct-4627.etsi-qkd-api.qukaydee.com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User-Agent: Python-</a:t>
            </a:r>
            <a:r>
              <a:rPr lang="de-DE" dirty="0" err="1">
                <a:solidFill>
                  <a:srgbClr val="7F0000"/>
                </a:solidFill>
                <a:effectLst/>
              </a:rPr>
              <a:t>urllib</a:t>
            </a:r>
            <a:r>
              <a:rPr lang="de-DE" dirty="0">
                <a:solidFill>
                  <a:srgbClr val="7F0000"/>
                </a:solidFill>
                <a:effectLst/>
              </a:rPr>
              <a:t>/3.12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: </a:t>
            </a:r>
            <a:r>
              <a:rPr lang="de-DE" dirty="0" err="1">
                <a:solidFill>
                  <a:srgbClr val="7F0000"/>
                </a:solidFill>
                <a:effectLst/>
              </a:rPr>
              <a:t>application</a:t>
            </a:r>
            <a:r>
              <a:rPr lang="de-DE" dirty="0">
                <a:solidFill>
                  <a:srgbClr val="7F0000"/>
                </a:solidFill>
                <a:effectLst/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7F0000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endParaRPr lang="de-DE" dirty="0">
              <a:solidFill>
                <a:srgbClr val="7F0000"/>
              </a:solidFill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HTTP/1.1 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400 Bad Request</a:t>
            </a:r>
            <a:endParaRPr lang="de-DE" dirty="0">
              <a:effectLst/>
              <a:highlight>
                <a:srgbClr val="FFFF00"/>
              </a:highlight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Server: </a:t>
            </a:r>
            <a:r>
              <a:rPr lang="de-DE" dirty="0" err="1">
                <a:solidFill>
                  <a:srgbClr val="00007F"/>
                </a:solidFill>
                <a:effectLst/>
              </a:rPr>
              <a:t>nginx</a:t>
            </a:r>
            <a:r>
              <a:rPr lang="de-DE" dirty="0">
                <a:solidFill>
                  <a:srgbClr val="00007F"/>
                </a:solidFill>
                <a:effectLst/>
              </a:rPr>
              <a:t>/1.18.0 (Ubuntu)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Date: </a:t>
            </a:r>
            <a:r>
              <a:rPr lang="de-DE" dirty="0" err="1">
                <a:solidFill>
                  <a:srgbClr val="00007F"/>
                </a:solidFill>
                <a:effectLst/>
              </a:rPr>
              <a:t>Wed</a:t>
            </a:r>
            <a:r>
              <a:rPr lang="de-DE" dirty="0">
                <a:solidFill>
                  <a:srgbClr val="00007F"/>
                </a:solidFill>
                <a:effectLst/>
              </a:rPr>
              <a:t>, 05 Aug 2026 14:50:22 GMT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Content-Type: </a:t>
            </a:r>
            <a:r>
              <a:rPr lang="de-DE" dirty="0" err="1">
                <a:solidFill>
                  <a:srgbClr val="00007F"/>
                </a:solidFill>
                <a:effectLst/>
              </a:rPr>
              <a:t>application</a:t>
            </a:r>
            <a:r>
              <a:rPr lang="de-DE" dirty="0">
                <a:solidFill>
                  <a:srgbClr val="00007F"/>
                </a:solidFill>
                <a:effectLst/>
              </a:rPr>
              <a:t>/</a:t>
            </a:r>
            <a:r>
              <a:rPr lang="de-DE" dirty="0" err="1">
                <a:solidFill>
                  <a:srgbClr val="00007F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</a:t>
            </a:r>
            <a:r>
              <a:rPr lang="de-DE" dirty="0" err="1">
                <a:solidFill>
                  <a:srgbClr val="00007F"/>
                </a:solidFill>
                <a:effectLst/>
              </a:rPr>
              <a:t>Length</a:t>
            </a:r>
            <a:r>
              <a:rPr lang="de-DE" dirty="0">
                <a:solidFill>
                  <a:srgbClr val="00007F"/>
                </a:solidFill>
                <a:effectLst/>
              </a:rPr>
              <a:t>: 151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00007F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Vary: </a:t>
            </a:r>
            <a:r>
              <a:rPr lang="de-DE" dirty="0" err="1">
                <a:solidFill>
                  <a:srgbClr val="00007F"/>
                </a:solidFill>
                <a:effectLst/>
              </a:rPr>
              <a:t>Accept</a:t>
            </a:r>
            <a:r>
              <a:rPr lang="de-DE" dirty="0">
                <a:solidFill>
                  <a:srgbClr val="00007F"/>
                </a:solidFill>
                <a:effectLst/>
              </a:rPr>
              <a:t>, Cookie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00007F"/>
                </a:solidFill>
                <a:effectLst/>
              </a:rPr>
              <a:t>Allow</a:t>
            </a:r>
            <a:r>
              <a:rPr lang="de-DE" dirty="0">
                <a:solidFill>
                  <a:srgbClr val="00007F"/>
                </a:solidFill>
                <a:effectLst/>
              </a:rPr>
              <a:t>: GET, POST, HEAD, OPTIONS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[…]</a:t>
            </a:r>
            <a:br>
              <a:rPr lang="de-DE" dirty="0">
                <a:solidFill>
                  <a:srgbClr val="00007F"/>
                </a:solidFill>
                <a:effectLst/>
              </a:rPr>
            </a:br>
            <a:r>
              <a:rPr lang="de-DE" dirty="0">
                <a:solidFill>
                  <a:srgbClr val="00007F"/>
                </a:solidFill>
                <a:effectLst/>
              </a:rPr>
              <a:t>{"</a:t>
            </a:r>
            <a:r>
              <a:rPr lang="de-DE" dirty="0" err="1">
                <a:solidFill>
                  <a:srgbClr val="00007F"/>
                </a:solidFill>
                <a:effectLst/>
              </a:rPr>
              <a:t>message</a:t>
            </a:r>
            <a:r>
              <a:rPr lang="de-DE" dirty="0">
                <a:solidFill>
                  <a:srgbClr val="00007F"/>
                </a:solidFill>
                <a:effectLst/>
              </a:rPr>
              <a:t>":"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Invalid </a:t>
            </a:r>
            <a:r>
              <a:rPr lang="de-DE" dirty="0" err="1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parameter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 </a:t>
            </a:r>
            <a:r>
              <a:rPr lang="de-DE" dirty="0" err="1">
                <a:solidFill>
                  <a:srgbClr val="00007F"/>
                </a:solidFill>
                <a:effectLst/>
              </a:rPr>
              <a:t>value</a:t>
            </a:r>
            <a:r>
              <a:rPr lang="de-DE" dirty="0">
                <a:solidFill>
                  <a:srgbClr val="00007F"/>
                </a:solidFill>
                <a:effectLst/>
              </a:rPr>
              <a:t>","</a:t>
            </a:r>
            <a:r>
              <a:rPr lang="de-DE" dirty="0" err="1">
                <a:solidFill>
                  <a:srgbClr val="00007F"/>
                </a:solidFill>
                <a:effectLst/>
              </a:rPr>
              <a:t>details</a:t>
            </a:r>
            <a:r>
              <a:rPr lang="de-DE" dirty="0">
                <a:solidFill>
                  <a:srgbClr val="00007F"/>
                </a:solidFill>
                <a:effectLst/>
              </a:rPr>
              <a:t>":[{"parameter_name":"size","parameter_value":"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100008"</a:t>
            </a:r>
            <a:r>
              <a:rPr lang="de-DE" dirty="0">
                <a:solidFill>
                  <a:srgbClr val="00007F"/>
                </a:solidFill>
                <a:effectLst/>
              </a:rPr>
              <a:t>,"allowed_values":"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Integer, </a:t>
            </a:r>
            <a:r>
              <a:rPr lang="de-DE" dirty="0" err="1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between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 1 and 100000</a:t>
            </a:r>
            <a:r>
              <a:rPr lang="de-DE" dirty="0">
                <a:solidFill>
                  <a:srgbClr val="00007F"/>
                </a:solidFill>
                <a:effectLst/>
              </a:rPr>
              <a:t>"}]}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5197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8D4E590A-5618-1F34-C358-C90B31CC2EC7}"/>
              </a:ext>
            </a:extLst>
          </p:cNvPr>
          <p:cNvSpPr txBox="1"/>
          <p:nvPr/>
        </p:nvSpPr>
        <p:spPr>
          <a:xfrm>
            <a:off x="1692377" y="335845"/>
            <a:ext cx="81153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GET</a:t>
            </a:r>
            <a:r>
              <a:rPr lang="de-DE" dirty="0">
                <a:solidFill>
                  <a:srgbClr val="7F0000"/>
                </a:solidFill>
                <a:effectLst/>
              </a:rPr>
              <a:t> /</a:t>
            </a:r>
            <a:r>
              <a:rPr lang="de-DE" dirty="0" err="1">
                <a:solidFill>
                  <a:srgbClr val="7F0000"/>
                </a:solidFill>
                <a:effectLst/>
              </a:rPr>
              <a:t>api</a:t>
            </a:r>
            <a:r>
              <a:rPr lang="de-DE" dirty="0">
                <a:solidFill>
                  <a:srgbClr val="7F0000"/>
                </a:solidFill>
                <a:effectLst/>
              </a:rPr>
              <a:t>/v1/</a:t>
            </a:r>
            <a:r>
              <a:rPr lang="de-DE" dirty="0" err="1">
                <a:solidFill>
                  <a:srgbClr val="7F0000"/>
                </a:solidFill>
                <a:effectLst/>
              </a:rPr>
              <a:t>keys</a:t>
            </a:r>
            <a:r>
              <a:rPr lang="de-DE" dirty="0">
                <a:solidFill>
                  <a:srgbClr val="7F0000"/>
                </a:solidFill>
                <a:effectLst/>
              </a:rPr>
              <a:t>/sae-2/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status</a:t>
            </a:r>
            <a:r>
              <a:rPr lang="de-DE" dirty="0">
                <a:solidFill>
                  <a:srgbClr val="7F0000"/>
                </a:solidFill>
                <a:effectLst/>
              </a:rPr>
              <a:t> HTTP/1.1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-Encoding: </a:t>
            </a:r>
            <a:r>
              <a:rPr lang="de-DE" dirty="0" err="1">
                <a:solidFill>
                  <a:srgbClr val="7F0000"/>
                </a:solidFill>
                <a:effectLst/>
              </a:rPr>
              <a:t>identity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Host: 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kme-1</a:t>
            </a:r>
            <a:r>
              <a:rPr lang="de-DE" dirty="0">
                <a:solidFill>
                  <a:srgbClr val="7F0000"/>
                </a:solidFill>
                <a:effectLst/>
              </a:rPr>
              <a:t>.acct-4627.etsi-qkd-api.qukaydee.com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User-Agent: Python-</a:t>
            </a:r>
            <a:r>
              <a:rPr lang="de-DE" dirty="0" err="1">
                <a:solidFill>
                  <a:srgbClr val="7F0000"/>
                </a:solidFill>
                <a:effectLst/>
              </a:rPr>
              <a:t>urllib</a:t>
            </a:r>
            <a:r>
              <a:rPr lang="de-DE" dirty="0">
                <a:solidFill>
                  <a:srgbClr val="7F0000"/>
                </a:solidFill>
                <a:effectLst/>
              </a:rPr>
              <a:t>/3.12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: </a:t>
            </a:r>
            <a:r>
              <a:rPr lang="de-DE" dirty="0" err="1">
                <a:solidFill>
                  <a:srgbClr val="7F0000"/>
                </a:solidFill>
                <a:effectLst/>
              </a:rPr>
              <a:t>application</a:t>
            </a:r>
            <a:r>
              <a:rPr lang="de-DE" dirty="0">
                <a:solidFill>
                  <a:srgbClr val="7F0000"/>
                </a:solidFill>
                <a:effectLst/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7F0000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endParaRPr lang="de-DE" dirty="0">
              <a:solidFill>
                <a:srgbClr val="7F0000"/>
              </a:solidFill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HTTP/1.1 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200</a:t>
            </a:r>
            <a:r>
              <a:rPr lang="de-DE" dirty="0">
                <a:solidFill>
                  <a:srgbClr val="00007F"/>
                </a:solidFill>
                <a:effectLst/>
              </a:rPr>
              <a:t> OK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Server: </a:t>
            </a:r>
            <a:r>
              <a:rPr lang="de-DE" dirty="0" err="1">
                <a:solidFill>
                  <a:srgbClr val="00007F"/>
                </a:solidFill>
                <a:effectLst/>
              </a:rPr>
              <a:t>nginx</a:t>
            </a:r>
            <a:r>
              <a:rPr lang="de-DE" dirty="0">
                <a:solidFill>
                  <a:srgbClr val="00007F"/>
                </a:solidFill>
                <a:effectLst/>
              </a:rPr>
              <a:t>/1.18.0 (Ubuntu)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Date: Sat, 08 Aug 2026 11:58:21 GMT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Content-Type: </a:t>
            </a:r>
            <a:r>
              <a:rPr lang="de-DE" dirty="0" err="1">
                <a:solidFill>
                  <a:srgbClr val="00007F"/>
                </a:solidFill>
                <a:effectLst/>
              </a:rPr>
              <a:t>application</a:t>
            </a:r>
            <a:r>
              <a:rPr lang="de-DE" dirty="0">
                <a:solidFill>
                  <a:srgbClr val="00007F"/>
                </a:solidFill>
                <a:effectLst/>
              </a:rPr>
              <a:t>/</a:t>
            </a:r>
            <a:r>
              <a:rPr lang="de-DE" dirty="0" err="1">
                <a:solidFill>
                  <a:srgbClr val="00007F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</a:t>
            </a:r>
            <a:r>
              <a:rPr lang="de-DE" dirty="0" err="1">
                <a:solidFill>
                  <a:srgbClr val="00007F"/>
                </a:solidFill>
                <a:effectLst/>
              </a:rPr>
              <a:t>Length</a:t>
            </a:r>
            <a:r>
              <a:rPr lang="de-DE" dirty="0">
                <a:solidFill>
                  <a:srgbClr val="00007F"/>
                </a:solidFill>
                <a:effectLst/>
              </a:rPr>
              <a:t>: 264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00007F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Vary: </a:t>
            </a:r>
            <a:r>
              <a:rPr lang="de-DE" dirty="0" err="1">
                <a:solidFill>
                  <a:srgbClr val="00007F"/>
                </a:solidFill>
                <a:effectLst/>
              </a:rPr>
              <a:t>Accept</a:t>
            </a:r>
            <a:r>
              <a:rPr lang="de-DE" dirty="0">
                <a:solidFill>
                  <a:srgbClr val="00007F"/>
                </a:solidFill>
                <a:effectLst/>
              </a:rPr>
              <a:t>, Cookie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00007F"/>
                </a:solidFill>
                <a:effectLst/>
              </a:rPr>
              <a:t>Allow</a:t>
            </a:r>
            <a:r>
              <a:rPr lang="de-DE" dirty="0">
                <a:solidFill>
                  <a:srgbClr val="00007F"/>
                </a:solidFill>
                <a:effectLst/>
              </a:rPr>
              <a:t>: GET, HEAD, OPTIONS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[…]</a:t>
            </a:r>
            <a:endParaRPr lang="de-DE" dirty="0">
              <a:effectLst/>
            </a:endParaRPr>
          </a:p>
          <a:p>
            <a:pPr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{"source_KME_ID":"kme-1","target_KME_ID":"kme-2","master_SAE_ID":"sae-1","slave_SAE_ID":"sae-2","key_size":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512</a:t>
            </a:r>
            <a:r>
              <a:rPr lang="de-DE" dirty="0">
                <a:solidFill>
                  <a:srgbClr val="00007F"/>
                </a:solidFill>
                <a:effectLst/>
              </a:rPr>
              <a:t>,"stored_key_count":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1665</a:t>
            </a:r>
            <a:r>
              <a:rPr lang="de-DE" dirty="0">
                <a:solidFill>
                  <a:srgbClr val="00007F"/>
                </a:solidFill>
                <a:effectLst/>
              </a:rPr>
              <a:t>,"max_key_count":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1953</a:t>
            </a:r>
            <a:r>
              <a:rPr lang="de-DE" dirty="0">
                <a:solidFill>
                  <a:srgbClr val="00007F"/>
                </a:solidFill>
                <a:effectLst/>
              </a:rPr>
              <a:t>,"max_key_per_request":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100</a:t>
            </a:r>
            <a:r>
              <a:rPr lang="de-DE" dirty="0">
                <a:solidFill>
                  <a:srgbClr val="00007F"/>
                </a:solidFill>
                <a:effectLst/>
              </a:rPr>
              <a:t>,"max_key_size":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100000</a:t>
            </a:r>
            <a:r>
              <a:rPr lang="de-DE" dirty="0">
                <a:solidFill>
                  <a:srgbClr val="00007F"/>
                </a:solidFill>
                <a:effectLst/>
              </a:rPr>
              <a:t>,"min_key_size":1,"max_SAE_ID_count":9,"status_extension":{}}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5935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FFD112F-0E3F-C103-E85B-811A413F5B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51"/>
          <a:stretch>
            <a:fillRect/>
          </a:stretch>
        </p:blipFill>
        <p:spPr>
          <a:xfrm>
            <a:off x="100584" y="2661769"/>
            <a:ext cx="11164824" cy="1534462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4214DD6A-2710-E985-36A0-CE7E2EB4FD06}"/>
              </a:ext>
            </a:extLst>
          </p:cNvPr>
          <p:cNvSpPr/>
          <p:nvPr/>
        </p:nvSpPr>
        <p:spPr>
          <a:xfrm>
            <a:off x="8281416" y="2977896"/>
            <a:ext cx="624840" cy="3048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8BA3DC1-7275-905E-B1D6-BFDD7131BC28}"/>
              </a:ext>
            </a:extLst>
          </p:cNvPr>
          <p:cNvSpPr/>
          <p:nvPr/>
        </p:nvSpPr>
        <p:spPr>
          <a:xfrm>
            <a:off x="8287512" y="3313176"/>
            <a:ext cx="624840" cy="304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C8D88DE-9D10-D6F7-A4A6-03924D2F02F8}"/>
              </a:ext>
            </a:extLst>
          </p:cNvPr>
          <p:cNvSpPr/>
          <p:nvPr/>
        </p:nvSpPr>
        <p:spPr>
          <a:xfrm>
            <a:off x="8296656" y="3642360"/>
            <a:ext cx="624840" cy="304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48FF78C-79DC-7CD3-A6CB-7C18C7704E05}"/>
              </a:ext>
            </a:extLst>
          </p:cNvPr>
          <p:cNvSpPr/>
          <p:nvPr/>
        </p:nvSpPr>
        <p:spPr>
          <a:xfrm>
            <a:off x="8296656" y="3947160"/>
            <a:ext cx="624840" cy="3344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A15A5FC-FE2F-6182-B0D3-F9B087826A6B}"/>
              </a:ext>
            </a:extLst>
          </p:cNvPr>
          <p:cNvSpPr/>
          <p:nvPr/>
        </p:nvSpPr>
        <p:spPr>
          <a:xfrm>
            <a:off x="7110984" y="2834640"/>
            <a:ext cx="420624" cy="393716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DBC9EA1-684F-41FD-66FD-583C76A4431E}"/>
              </a:ext>
            </a:extLst>
          </p:cNvPr>
          <p:cNvSpPr/>
          <p:nvPr/>
        </p:nvSpPr>
        <p:spPr>
          <a:xfrm>
            <a:off x="7117080" y="3216242"/>
            <a:ext cx="420624" cy="349053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0C7E548-4A75-73F3-F8C7-11C91B8EB7B8}"/>
              </a:ext>
            </a:extLst>
          </p:cNvPr>
          <p:cNvSpPr/>
          <p:nvPr/>
        </p:nvSpPr>
        <p:spPr>
          <a:xfrm>
            <a:off x="7107936" y="3544824"/>
            <a:ext cx="420624" cy="344366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C736C63-A569-BE8D-AA39-B6140492FF79}"/>
              </a:ext>
            </a:extLst>
          </p:cNvPr>
          <p:cNvSpPr/>
          <p:nvPr/>
        </p:nvSpPr>
        <p:spPr>
          <a:xfrm>
            <a:off x="7117080" y="3877112"/>
            <a:ext cx="420624" cy="34436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0300AE2-FDD1-5DAE-A891-4F2238108DEF}"/>
              </a:ext>
            </a:extLst>
          </p:cNvPr>
          <p:cNvSpPr txBox="1"/>
          <p:nvPr/>
        </p:nvSpPr>
        <p:spPr>
          <a:xfrm>
            <a:off x="7245096" y="2859024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F6A2F4E-2449-3E8F-73DE-8EA64E9CD757}"/>
              </a:ext>
            </a:extLst>
          </p:cNvPr>
          <p:cNvSpPr txBox="1"/>
          <p:nvPr/>
        </p:nvSpPr>
        <p:spPr>
          <a:xfrm>
            <a:off x="7217664" y="3541252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9CF4B5D-07F6-915F-87AF-3EFDC15DE7F6}"/>
              </a:ext>
            </a:extLst>
          </p:cNvPr>
          <p:cNvSpPr txBox="1"/>
          <p:nvPr/>
        </p:nvSpPr>
        <p:spPr>
          <a:xfrm>
            <a:off x="7254240" y="3218426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498BCDE-49B7-E5BA-750F-03C9F2E9BBA0}"/>
              </a:ext>
            </a:extLst>
          </p:cNvPr>
          <p:cNvSpPr txBox="1"/>
          <p:nvPr/>
        </p:nvSpPr>
        <p:spPr>
          <a:xfrm>
            <a:off x="7235952" y="3865933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843466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1AD343F-A8EE-7969-2BFC-7DA38EA6FF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222"/>
          <a:stretch>
            <a:fillRect/>
          </a:stretch>
        </p:blipFill>
        <p:spPr>
          <a:xfrm>
            <a:off x="91440" y="2503732"/>
            <a:ext cx="9345168" cy="1851475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B3AC762E-D709-180C-412A-41B07AD8FBDF}"/>
              </a:ext>
            </a:extLst>
          </p:cNvPr>
          <p:cNvSpPr/>
          <p:nvPr/>
        </p:nvSpPr>
        <p:spPr>
          <a:xfrm>
            <a:off x="5949696" y="2679192"/>
            <a:ext cx="420624" cy="42976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05FCA06-AFE0-FF47-D8FD-B2B3E852CB34}"/>
              </a:ext>
            </a:extLst>
          </p:cNvPr>
          <p:cNvSpPr/>
          <p:nvPr/>
        </p:nvSpPr>
        <p:spPr>
          <a:xfrm>
            <a:off x="5946648" y="3105912"/>
            <a:ext cx="420624" cy="42976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1B17D47-B606-85F9-995D-8E775A3A9136}"/>
              </a:ext>
            </a:extLst>
          </p:cNvPr>
          <p:cNvSpPr/>
          <p:nvPr/>
        </p:nvSpPr>
        <p:spPr>
          <a:xfrm>
            <a:off x="5964936" y="3517392"/>
            <a:ext cx="420624" cy="42976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40C9312-3CB9-FF6D-EA94-27BAB9A36DAB}"/>
              </a:ext>
            </a:extLst>
          </p:cNvPr>
          <p:cNvSpPr/>
          <p:nvPr/>
        </p:nvSpPr>
        <p:spPr>
          <a:xfrm>
            <a:off x="5964936" y="3928872"/>
            <a:ext cx="420624" cy="42976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A47A956-8DC6-6BAE-0E50-6EE88A09FFD7}"/>
              </a:ext>
            </a:extLst>
          </p:cNvPr>
          <p:cNvSpPr txBox="1"/>
          <p:nvPr/>
        </p:nvSpPr>
        <p:spPr>
          <a:xfrm>
            <a:off x="6056376" y="2694432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048D17C-55E4-C14A-7538-6E0A6F7EFF34}"/>
              </a:ext>
            </a:extLst>
          </p:cNvPr>
          <p:cNvSpPr txBox="1"/>
          <p:nvPr/>
        </p:nvSpPr>
        <p:spPr>
          <a:xfrm>
            <a:off x="6065520" y="3559540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9E0D02C-C0A4-EB9C-D5FF-4B037EA93C0A}"/>
              </a:ext>
            </a:extLst>
          </p:cNvPr>
          <p:cNvSpPr txBox="1"/>
          <p:nvPr/>
        </p:nvSpPr>
        <p:spPr>
          <a:xfrm>
            <a:off x="6074664" y="3136130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14A8450-7FB5-5E27-C21B-BF6FD7AFD02A}"/>
              </a:ext>
            </a:extLst>
          </p:cNvPr>
          <p:cNvSpPr txBox="1"/>
          <p:nvPr/>
        </p:nvSpPr>
        <p:spPr>
          <a:xfrm>
            <a:off x="6074664" y="3966517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905543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5B02538-B8AB-0501-D7B1-454D6D92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737812"/>
            <a:ext cx="11183911" cy="5382376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DE4C320C-2B86-AC2E-8E75-514BBF0CE56A}"/>
              </a:ext>
            </a:extLst>
          </p:cNvPr>
          <p:cNvSpPr/>
          <p:nvPr/>
        </p:nvSpPr>
        <p:spPr>
          <a:xfrm>
            <a:off x="2731008" y="737812"/>
            <a:ext cx="1411224" cy="393716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F5BA7D2-AA69-8288-59B8-2F635D2501A3}"/>
              </a:ext>
            </a:extLst>
          </p:cNvPr>
          <p:cNvSpPr/>
          <p:nvPr/>
        </p:nvSpPr>
        <p:spPr>
          <a:xfrm>
            <a:off x="2648712" y="4133088"/>
            <a:ext cx="3660648" cy="393716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1A9EDDE-3DDB-189F-6ABE-C154C44172A4}"/>
              </a:ext>
            </a:extLst>
          </p:cNvPr>
          <p:cNvSpPr/>
          <p:nvPr/>
        </p:nvSpPr>
        <p:spPr>
          <a:xfrm>
            <a:off x="4788408" y="4654296"/>
            <a:ext cx="1271016" cy="393716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B2D7BB0-1BAC-A170-9810-DE3980B7E3D5}"/>
              </a:ext>
            </a:extLst>
          </p:cNvPr>
          <p:cNvSpPr/>
          <p:nvPr/>
        </p:nvSpPr>
        <p:spPr>
          <a:xfrm>
            <a:off x="5355336" y="5368954"/>
            <a:ext cx="624840" cy="393716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887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92F39E8-848A-413B-3FB3-B89F47EEC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792" y="2073170"/>
            <a:ext cx="5201376" cy="3315163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C5B06682-B3BC-C727-999F-36F139FD0301}"/>
              </a:ext>
            </a:extLst>
          </p:cNvPr>
          <p:cNvSpPr/>
          <p:nvPr/>
        </p:nvSpPr>
        <p:spPr>
          <a:xfrm>
            <a:off x="3768852" y="4590288"/>
            <a:ext cx="2247900" cy="51816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1EB4B62-2613-1F3B-8BCF-7608E5E6FD91}"/>
              </a:ext>
            </a:extLst>
          </p:cNvPr>
          <p:cNvSpPr/>
          <p:nvPr/>
        </p:nvSpPr>
        <p:spPr>
          <a:xfrm>
            <a:off x="4404360" y="1993392"/>
            <a:ext cx="1271016" cy="393716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86BCF79-9D94-DA36-D4F7-C18413DCAE8B}"/>
              </a:ext>
            </a:extLst>
          </p:cNvPr>
          <p:cNvSpPr/>
          <p:nvPr/>
        </p:nvSpPr>
        <p:spPr>
          <a:xfrm>
            <a:off x="3768852" y="3928872"/>
            <a:ext cx="1271016" cy="393716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5512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514FA96-8DC2-D1E1-4E51-19E0D35AD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28" y="2990789"/>
            <a:ext cx="11593543" cy="876422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DD513F1C-F5C5-43CF-9FBA-DB4A93E2894A}"/>
              </a:ext>
            </a:extLst>
          </p:cNvPr>
          <p:cNvSpPr/>
          <p:nvPr/>
        </p:nvSpPr>
        <p:spPr>
          <a:xfrm>
            <a:off x="8534400" y="2990789"/>
            <a:ext cx="1222248" cy="2065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8CC28BB-7543-DC8E-A883-14358841EAC4}"/>
              </a:ext>
            </a:extLst>
          </p:cNvPr>
          <p:cNvSpPr/>
          <p:nvPr/>
        </p:nvSpPr>
        <p:spPr>
          <a:xfrm>
            <a:off x="8540496" y="3179765"/>
            <a:ext cx="1222248" cy="2065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E3B3355-CB55-C1B5-D90E-6D1349AC3A92}"/>
              </a:ext>
            </a:extLst>
          </p:cNvPr>
          <p:cNvSpPr/>
          <p:nvPr/>
        </p:nvSpPr>
        <p:spPr>
          <a:xfrm>
            <a:off x="8577072" y="3349751"/>
            <a:ext cx="1222248" cy="2065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E5E1F58-397A-7D8C-595A-95D061BEE3DA}"/>
              </a:ext>
            </a:extLst>
          </p:cNvPr>
          <p:cNvSpPr/>
          <p:nvPr/>
        </p:nvSpPr>
        <p:spPr>
          <a:xfrm>
            <a:off x="8558784" y="3675887"/>
            <a:ext cx="1222248" cy="2065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F5CECEC-F4A9-B82E-5826-4C214EDB4145}"/>
              </a:ext>
            </a:extLst>
          </p:cNvPr>
          <p:cNvSpPr txBox="1"/>
          <p:nvPr/>
        </p:nvSpPr>
        <p:spPr>
          <a:xfrm>
            <a:off x="6815328" y="2909404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C5D3C20-15B3-15E0-DDE9-250145EA298F}"/>
              </a:ext>
            </a:extLst>
          </p:cNvPr>
          <p:cNvSpPr txBox="1"/>
          <p:nvPr/>
        </p:nvSpPr>
        <p:spPr>
          <a:xfrm>
            <a:off x="6842760" y="3579265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161DB9E-B629-2190-211B-195F89A0D00A}"/>
              </a:ext>
            </a:extLst>
          </p:cNvPr>
          <p:cNvSpPr txBox="1"/>
          <p:nvPr/>
        </p:nvSpPr>
        <p:spPr>
          <a:xfrm>
            <a:off x="6815328" y="3094069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02F06E5-DB42-9A2B-6B33-83C07834D23B}"/>
              </a:ext>
            </a:extLst>
          </p:cNvPr>
          <p:cNvSpPr txBox="1"/>
          <p:nvPr/>
        </p:nvSpPr>
        <p:spPr>
          <a:xfrm>
            <a:off x="6824472" y="3260447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09161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ADAEE55-4185-8F29-E751-DC5B5E1A0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07" y="2081024"/>
            <a:ext cx="11898385" cy="2695951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5FCA758C-CC30-ADC6-D588-EAFD9A04BA38}"/>
              </a:ext>
            </a:extLst>
          </p:cNvPr>
          <p:cNvSpPr/>
          <p:nvPr/>
        </p:nvSpPr>
        <p:spPr>
          <a:xfrm>
            <a:off x="1353312" y="3931920"/>
            <a:ext cx="2432304" cy="73151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464C413-A1CE-C4D8-CCFF-C1D99D0E0BCF}"/>
              </a:ext>
            </a:extLst>
          </p:cNvPr>
          <p:cNvSpPr/>
          <p:nvPr/>
        </p:nvSpPr>
        <p:spPr>
          <a:xfrm>
            <a:off x="8540496" y="2044448"/>
            <a:ext cx="1444752" cy="3329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C5F3DAC-11EF-6D93-5973-45A9D127888A}"/>
              </a:ext>
            </a:extLst>
          </p:cNvPr>
          <p:cNvSpPr txBox="1"/>
          <p:nvPr/>
        </p:nvSpPr>
        <p:spPr>
          <a:xfrm>
            <a:off x="6915912" y="2026278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96041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C587C9C-F061-DCEB-F506-9CE85855D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7" y="1985761"/>
            <a:ext cx="12107965" cy="2886478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DA020053-445C-BE61-DDCC-D42E77455422}"/>
              </a:ext>
            </a:extLst>
          </p:cNvPr>
          <p:cNvSpPr/>
          <p:nvPr/>
        </p:nvSpPr>
        <p:spPr>
          <a:xfrm>
            <a:off x="8695944" y="1941554"/>
            <a:ext cx="1444752" cy="44503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3B3ABCD-88DB-0601-02E2-D0538FECC371}"/>
              </a:ext>
            </a:extLst>
          </p:cNvPr>
          <p:cNvSpPr txBox="1"/>
          <p:nvPr/>
        </p:nvSpPr>
        <p:spPr>
          <a:xfrm>
            <a:off x="7089648" y="1904978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6032545-C4DA-4045-B709-E614726E528D}"/>
              </a:ext>
            </a:extLst>
          </p:cNvPr>
          <p:cNvSpPr txBox="1"/>
          <p:nvPr/>
        </p:nvSpPr>
        <p:spPr>
          <a:xfrm>
            <a:off x="7071360" y="2088131"/>
            <a:ext cx="3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0F92297-0EA2-A584-1B3D-0EB239727394}"/>
              </a:ext>
            </a:extLst>
          </p:cNvPr>
          <p:cNvSpPr/>
          <p:nvPr/>
        </p:nvSpPr>
        <p:spPr>
          <a:xfrm>
            <a:off x="509016" y="3895322"/>
            <a:ext cx="3697224" cy="8961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219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8C6FE12-EB8C-A331-59E4-E5CCB3693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9" y="2717038"/>
            <a:ext cx="11916076" cy="142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59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F220C6F-18CF-E041-26E0-08494515E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54" y="128127"/>
            <a:ext cx="11755491" cy="6601746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8031046E-8F09-9A47-6920-57B313B1F7EF}"/>
              </a:ext>
            </a:extLst>
          </p:cNvPr>
          <p:cNvSpPr/>
          <p:nvPr/>
        </p:nvSpPr>
        <p:spPr>
          <a:xfrm>
            <a:off x="8156448" y="231626"/>
            <a:ext cx="2130552" cy="44503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3DBF198-6643-56C2-38E1-5E9258167BEA}"/>
              </a:ext>
            </a:extLst>
          </p:cNvPr>
          <p:cNvSpPr/>
          <p:nvPr/>
        </p:nvSpPr>
        <p:spPr>
          <a:xfrm>
            <a:off x="920496" y="4005050"/>
            <a:ext cx="2130552" cy="5669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8BEC1B0-EC59-6095-BE66-C7CCED4BC4A5}"/>
              </a:ext>
            </a:extLst>
          </p:cNvPr>
          <p:cNvSpPr/>
          <p:nvPr/>
        </p:nvSpPr>
        <p:spPr>
          <a:xfrm>
            <a:off x="844296" y="5035274"/>
            <a:ext cx="2511552" cy="5669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E4A3489-7B14-C691-6AE9-80A86A5984C9}"/>
              </a:ext>
            </a:extLst>
          </p:cNvPr>
          <p:cNvSpPr/>
          <p:nvPr/>
        </p:nvSpPr>
        <p:spPr>
          <a:xfrm>
            <a:off x="1018032" y="6141698"/>
            <a:ext cx="2337816" cy="45112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101BBBE-13F9-13E1-E3F7-8255BB1544EF}"/>
              </a:ext>
            </a:extLst>
          </p:cNvPr>
          <p:cNvSpPr/>
          <p:nvPr/>
        </p:nvSpPr>
        <p:spPr>
          <a:xfrm>
            <a:off x="1551432" y="2420157"/>
            <a:ext cx="3038856" cy="56695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964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D623EB3-97E1-F6ED-9D46-641BE410EBD9}"/>
              </a:ext>
            </a:extLst>
          </p:cNvPr>
          <p:cNvSpPr txBox="1"/>
          <p:nvPr/>
        </p:nvSpPr>
        <p:spPr>
          <a:xfrm>
            <a:off x="1858518" y="107014"/>
            <a:ext cx="1022985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POST</a:t>
            </a:r>
            <a:r>
              <a:rPr lang="de-DE" dirty="0">
                <a:solidFill>
                  <a:srgbClr val="7F0000"/>
                </a:solidFill>
                <a:effectLst/>
              </a:rPr>
              <a:t> /</a:t>
            </a:r>
            <a:r>
              <a:rPr lang="de-DE" dirty="0" err="1">
                <a:solidFill>
                  <a:srgbClr val="7F0000"/>
                </a:solidFill>
                <a:effectLst/>
              </a:rPr>
              <a:t>api</a:t>
            </a:r>
            <a:r>
              <a:rPr lang="de-DE" dirty="0">
                <a:solidFill>
                  <a:srgbClr val="7F0000"/>
                </a:solidFill>
                <a:effectLst/>
              </a:rPr>
              <a:t>/v1/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keys</a:t>
            </a:r>
            <a:r>
              <a:rPr lang="de-DE" dirty="0">
                <a:solidFill>
                  <a:srgbClr val="7F0000"/>
                </a:solidFill>
                <a:effectLst/>
              </a:rPr>
              <a:t>/sae-2/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enc_keys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lang="de-DE" dirty="0">
                <a:solidFill>
                  <a:srgbClr val="7F0000"/>
                </a:solidFill>
                <a:effectLst/>
              </a:rPr>
              <a:t>HTTP/1.1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-Encoding: </a:t>
            </a:r>
            <a:r>
              <a:rPr lang="de-DE" dirty="0" err="1">
                <a:solidFill>
                  <a:srgbClr val="7F0000"/>
                </a:solidFill>
                <a:effectLst/>
              </a:rPr>
              <a:t>identity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Content-</a:t>
            </a:r>
            <a:r>
              <a:rPr lang="de-DE" dirty="0" err="1">
                <a:solidFill>
                  <a:srgbClr val="7F0000"/>
                </a:solidFill>
                <a:effectLst/>
              </a:rPr>
              <a:t>Length</a:t>
            </a:r>
            <a:r>
              <a:rPr lang="de-DE" dirty="0">
                <a:solidFill>
                  <a:srgbClr val="7F0000"/>
                </a:solidFill>
                <a:effectLst/>
              </a:rPr>
              <a:t>: 96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Host: 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kme-1</a:t>
            </a:r>
            <a:r>
              <a:rPr lang="de-DE" dirty="0">
                <a:solidFill>
                  <a:srgbClr val="7F0000"/>
                </a:solidFill>
                <a:effectLst/>
              </a:rPr>
              <a:t>.acct-4627.etsi-qkd-api.qukaydee.com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User-Agent: Python-</a:t>
            </a:r>
            <a:r>
              <a:rPr lang="de-DE" dirty="0" err="1">
                <a:solidFill>
                  <a:srgbClr val="7F0000"/>
                </a:solidFill>
                <a:effectLst/>
              </a:rPr>
              <a:t>urllib</a:t>
            </a:r>
            <a:r>
              <a:rPr lang="de-DE" dirty="0">
                <a:solidFill>
                  <a:srgbClr val="7F0000"/>
                </a:solidFill>
                <a:effectLst/>
              </a:rPr>
              <a:t>/3.12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: </a:t>
            </a:r>
            <a:r>
              <a:rPr lang="de-DE" dirty="0" err="1">
                <a:solidFill>
                  <a:srgbClr val="7F0000"/>
                </a:solidFill>
                <a:effectLst/>
              </a:rPr>
              <a:t>application</a:t>
            </a:r>
            <a:r>
              <a:rPr lang="de-DE" dirty="0">
                <a:solidFill>
                  <a:srgbClr val="7F0000"/>
                </a:solidFill>
                <a:effectLst/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Content-Type: </a:t>
            </a:r>
            <a:r>
              <a:rPr lang="de-DE" dirty="0" err="1">
                <a:solidFill>
                  <a:srgbClr val="7F0000"/>
                </a:solidFill>
                <a:effectLst/>
              </a:rPr>
              <a:t>application</a:t>
            </a:r>
            <a:r>
              <a:rPr lang="de-DE" dirty="0">
                <a:solidFill>
                  <a:srgbClr val="7F0000"/>
                </a:solidFill>
                <a:effectLst/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7F0000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{"</a:t>
            </a:r>
            <a:r>
              <a:rPr lang="de-DE" dirty="0" err="1">
                <a:solidFill>
                  <a:srgbClr val="7F0000"/>
                </a:solidFill>
                <a:effectLst/>
              </a:rPr>
              <a:t>number</a:t>
            </a:r>
            <a:r>
              <a:rPr lang="de-DE" dirty="0">
                <a:solidFill>
                  <a:srgbClr val="7F0000"/>
                </a:solidFill>
                <a:effectLst/>
              </a:rPr>
              <a:t>": 1, "</a:t>
            </a:r>
            <a:r>
              <a:rPr lang="de-DE" dirty="0" err="1">
                <a:solidFill>
                  <a:srgbClr val="7F0000"/>
                </a:solidFill>
                <a:effectLst/>
              </a:rPr>
              <a:t>size</a:t>
            </a:r>
            <a:r>
              <a:rPr lang="de-DE" dirty="0">
                <a:solidFill>
                  <a:srgbClr val="7F0000"/>
                </a:solidFill>
                <a:effectLst/>
              </a:rPr>
              <a:t>": 512, "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FFFF00"/>
                </a:highlight>
              </a:rPr>
              <a:t>extension_mandatory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FFFF00"/>
                </a:highlight>
              </a:rPr>
              <a:t>": [{"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FFFF00"/>
                </a:highlight>
              </a:rPr>
              <a:t>eclaireur_test_mandatory</a:t>
            </a:r>
            <a:r>
              <a:rPr lang="de-DE" dirty="0">
                <a:solidFill>
                  <a:srgbClr val="7F0000"/>
                </a:solidFill>
                <a:effectLst/>
              </a:rPr>
              <a:t>": "</a:t>
            </a:r>
            <a:r>
              <a:rPr lang="de-DE" dirty="0" err="1">
                <a:solidFill>
                  <a:srgbClr val="7F0000"/>
                </a:solidFill>
                <a:effectLst/>
              </a:rPr>
              <a:t>must-reject</a:t>
            </a:r>
            <a:r>
              <a:rPr lang="de-DE" dirty="0">
                <a:solidFill>
                  <a:srgbClr val="7F0000"/>
                </a:solidFill>
                <a:effectLst/>
              </a:rPr>
              <a:t>"}]}</a:t>
            </a:r>
            <a:endParaRPr lang="de-DE" dirty="0">
              <a:effectLst/>
            </a:endParaRPr>
          </a:p>
          <a:p>
            <a:pPr marL="0" marR="0" indent="0">
              <a:buNone/>
            </a:pPr>
            <a:endParaRPr lang="de-DE" dirty="0">
              <a:solidFill>
                <a:srgbClr val="00007F"/>
              </a:solidFill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HTTP/1.1 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400 Bad Request</a:t>
            </a:r>
            <a:endParaRPr lang="de-DE" dirty="0">
              <a:effectLst/>
              <a:highlight>
                <a:srgbClr val="FFFF00"/>
              </a:highlight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Server: </a:t>
            </a:r>
            <a:r>
              <a:rPr lang="de-DE" dirty="0" err="1">
                <a:solidFill>
                  <a:srgbClr val="00007F"/>
                </a:solidFill>
                <a:effectLst/>
              </a:rPr>
              <a:t>nginx</a:t>
            </a:r>
            <a:r>
              <a:rPr lang="de-DE" dirty="0">
                <a:solidFill>
                  <a:srgbClr val="00007F"/>
                </a:solidFill>
                <a:effectLst/>
              </a:rPr>
              <a:t>/1.18.0 (Ubuntu)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Date: Sat, 08 Aug 2026 13:46:54 GMT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Content-Type: </a:t>
            </a:r>
            <a:r>
              <a:rPr lang="de-DE" dirty="0" err="1">
                <a:solidFill>
                  <a:srgbClr val="00007F"/>
                </a:solidFill>
                <a:effectLst/>
              </a:rPr>
              <a:t>application</a:t>
            </a:r>
            <a:r>
              <a:rPr lang="de-DE" dirty="0">
                <a:solidFill>
                  <a:srgbClr val="00007F"/>
                </a:solidFill>
                <a:effectLst/>
              </a:rPr>
              <a:t>/</a:t>
            </a:r>
            <a:r>
              <a:rPr lang="de-DE" dirty="0" err="1">
                <a:solidFill>
                  <a:srgbClr val="00007F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</a:t>
            </a:r>
            <a:r>
              <a:rPr lang="de-DE" dirty="0" err="1">
                <a:solidFill>
                  <a:srgbClr val="00007F"/>
                </a:solidFill>
                <a:effectLst/>
              </a:rPr>
              <a:t>Length</a:t>
            </a:r>
            <a:r>
              <a:rPr lang="de-DE" dirty="0">
                <a:solidFill>
                  <a:srgbClr val="00007F"/>
                </a:solidFill>
                <a:effectLst/>
              </a:rPr>
              <a:t>: 115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00007F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Vary: </a:t>
            </a:r>
            <a:r>
              <a:rPr lang="de-DE" dirty="0" err="1">
                <a:solidFill>
                  <a:srgbClr val="00007F"/>
                </a:solidFill>
                <a:effectLst/>
              </a:rPr>
              <a:t>Accept</a:t>
            </a:r>
            <a:r>
              <a:rPr lang="de-DE" dirty="0">
                <a:solidFill>
                  <a:srgbClr val="00007F"/>
                </a:solidFill>
                <a:effectLst/>
              </a:rPr>
              <a:t>, Cookie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00007F"/>
                </a:solidFill>
                <a:effectLst/>
              </a:rPr>
              <a:t>Allow</a:t>
            </a:r>
            <a:r>
              <a:rPr lang="de-DE" dirty="0">
                <a:solidFill>
                  <a:srgbClr val="00007F"/>
                </a:solidFill>
                <a:effectLst/>
              </a:rPr>
              <a:t>: GET, POST, HEAD, OPTIONS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[…]</a:t>
            </a:r>
            <a:endParaRPr lang="de-DE" dirty="0">
              <a:effectLst/>
            </a:endParaRPr>
          </a:p>
          <a:p>
            <a:pPr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{"</a:t>
            </a:r>
            <a:r>
              <a:rPr lang="de-DE" dirty="0" err="1">
                <a:solidFill>
                  <a:srgbClr val="00007F"/>
                </a:solidFill>
                <a:effectLst/>
              </a:rPr>
              <a:t>message</a:t>
            </a:r>
            <a:r>
              <a:rPr lang="de-DE" dirty="0">
                <a:solidFill>
                  <a:srgbClr val="00007F"/>
                </a:solidFill>
                <a:effectLst/>
              </a:rPr>
              <a:t>":"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Unknown </a:t>
            </a:r>
            <a:r>
              <a:rPr lang="de-DE" dirty="0" err="1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mandatory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 </a:t>
            </a:r>
            <a:r>
              <a:rPr lang="de-DE" dirty="0" err="1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extension</a:t>
            </a:r>
            <a:r>
              <a:rPr lang="de-DE" dirty="0">
                <a:solidFill>
                  <a:srgbClr val="00007F"/>
                </a:solidFill>
                <a:effectLst/>
              </a:rPr>
              <a:t>","</a:t>
            </a:r>
            <a:r>
              <a:rPr lang="de-DE" dirty="0" err="1">
                <a:solidFill>
                  <a:srgbClr val="00007F"/>
                </a:solidFill>
                <a:effectLst/>
              </a:rPr>
              <a:t>details</a:t>
            </a:r>
            <a:r>
              <a:rPr lang="de-DE" dirty="0">
                <a:solidFill>
                  <a:srgbClr val="00007F"/>
                </a:solidFill>
                <a:effectLst/>
              </a:rPr>
              <a:t>":[{"</a:t>
            </a:r>
            <a:r>
              <a:rPr lang="de-DE" dirty="0" err="1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extension_item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":{"eclaireur_test_</a:t>
            </a:r>
            <a:r>
              <a:rPr lang="de-DE" dirty="0" err="1">
                <a:solidFill>
                  <a:srgbClr val="00007F"/>
                </a:solidFill>
                <a:effectLst/>
                <a:highlight>
                  <a:srgbClr val="FFFF00"/>
                </a:highlight>
              </a:rPr>
              <a:t>mandatory</a:t>
            </a:r>
            <a:r>
              <a:rPr lang="de-DE" dirty="0">
                <a:solidFill>
                  <a:srgbClr val="00007F"/>
                </a:solidFill>
                <a:effectLst/>
              </a:rPr>
              <a:t>":"</a:t>
            </a:r>
            <a:r>
              <a:rPr lang="de-DE" dirty="0" err="1">
                <a:solidFill>
                  <a:srgbClr val="00007F"/>
                </a:solidFill>
                <a:effectLst/>
              </a:rPr>
              <a:t>must-reject</a:t>
            </a:r>
            <a:r>
              <a:rPr lang="de-DE" dirty="0">
                <a:solidFill>
                  <a:srgbClr val="00007F"/>
                </a:solidFill>
                <a:effectLst/>
              </a:rPr>
              <a:t>"}}]}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8265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D10DA73C-B8D5-187A-8278-4D67585A8BB1}"/>
              </a:ext>
            </a:extLst>
          </p:cNvPr>
          <p:cNvSpPr txBox="1"/>
          <p:nvPr/>
        </p:nvSpPr>
        <p:spPr>
          <a:xfrm>
            <a:off x="148590" y="192024"/>
            <a:ext cx="697458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buNone/>
            </a:pPr>
            <a:r>
              <a:rPr lang="de-DE" b="1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POST</a:t>
            </a:r>
            <a:r>
              <a:rPr lang="de-DE" dirty="0">
                <a:solidFill>
                  <a:srgbClr val="7F0000"/>
                </a:solidFill>
                <a:effectLst/>
              </a:rPr>
              <a:t> /</a:t>
            </a:r>
            <a:r>
              <a:rPr lang="de-DE" dirty="0" err="1">
                <a:solidFill>
                  <a:srgbClr val="7F0000"/>
                </a:solidFill>
                <a:effectLst/>
              </a:rPr>
              <a:t>api</a:t>
            </a:r>
            <a:r>
              <a:rPr lang="de-DE" dirty="0">
                <a:solidFill>
                  <a:srgbClr val="7F0000"/>
                </a:solidFill>
                <a:effectLst/>
              </a:rPr>
              <a:t>/v1/</a:t>
            </a:r>
            <a:r>
              <a:rPr lang="de-DE" b="1" dirty="0" err="1">
                <a:solidFill>
                  <a:srgbClr val="7F0000"/>
                </a:solidFill>
                <a:effectLst/>
              </a:rPr>
              <a:t>keys</a:t>
            </a:r>
            <a:r>
              <a:rPr lang="de-DE" dirty="0">
                <a:solidFill>
                  <a:srgbClr val="7F0000"/>
                </a:solidFill>
                <a:effectLst/>
              </a:rPr>
              <a:t>/sae-2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enc_keys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lang="de-DE" dirty="0">
                <a:solidFill>
                  <a:srgbClr val="7F0000"/>
                </a:solidFill>
                <a:effectLst/>
              </a:rPr>
              <a:t>HTTP/1.1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-Encoding: </a:t>
            </a:r>
            <a:r>
              <a:rPr lang="de-DE" dirty="0" err="1">
                <a:solidFill>
                  <a:srgbClr val="7F0000"/>
                </a:solidFill>
                <a:effectLst/>
              </a:rPr>
              <a:t>identity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Content-</a:t>
            </a:r>
            <a:r>
              <a:rPr lang="de-DE" dirty="0" err="1">
                <a:solidFill>
                  <a:srgbClr val="7F0000"/>
                </a:solidFill>
                <a:effectLst/>
              </a:rPr>
              <a:t>Length</a:t>
            </a:r>
            <a:r>
              <a:rPr lang="de-DE" dirty="0">
                <a:solidFill>
                  <a:srgbClr val="7F0000"/>
                </a:solidFill>
                <a:effectLst/>
              </a:rPr>
              <a:t>: 65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Host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: kme-1</a:t>
            </a:r>
            <a:r>
              <a:rPr lang="de-DE" dirty="0">
                <a:solidFill>
                  <a:srgbClr val="7F0000"/>
                </a:solidFill>
                <a:effectLst/>
              </a:rPr>
              <a:t>.acct-4627.etsi-qkd-api.qukaydee.com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User-Agent: Python-</a:t>
            </a:r>
            <a:r>
              <a:rPr lang="de-DE" dirty="0" err="1">
                <a:solidFill>
                  <a:srgbClr val="7F0000"/>
                </a:solidFill>
                <a:effectLst/>
              </a:rPr>
              <a:t>urllib</a:t>
            </a:r>
            <a:r>
              <a:rPr lang="de-DE" dirty="0">
                <a:solidFill>
                  <a:srgbClr val="7F0000"/>
                </a:solidFill>
                <a:effectLst/>
              </a:rPr>
              <a:t>/3.12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: </a:t>
            </a:r>
            <a:r>
              <a:rPr lang="de-DE" dirty="0" err="1">
                <a:solidFill>
                  <a:srgbClr val="7F0000"/>
                </a:solidFill>
                <a:effectLst/>
              </a:rPr>
              <a:t>application</a:t>
            </a:r>
            <a:r>
              <a:rPr lang="de-DE" dirty="0">
                <a:solidFill>
                  <a:srgbClr val="7F0000"/>
                </a:solidFill>
                <a:effectLst/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Content-Type: </a:t>
            </a:r>
            <a:r>
              <a:rPr lang="de-DE" dirty="0" err="1">
                <a:solidFill>
                  <a:srgbClr val="7F0000"/>
                </a:solidFill>
                <a:effectLst/>
              </a:rPr>
              <a:t>application</a:t>
            </a:r>
            <a:r>
              <a:rPr lang="de-DE" dirty="0">
                <a:solidFill>
                  <a:srgbClr val="7F0000"/>
                </a:solidFill>
                <a:effectLst/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7F0000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br>
              <a:rPr lang="de-DE" dirty="0">
                <a:solidFill>
                  <a:srgbClr val="7F0000"/>
                </a:solidFill>
                <a:effectLst/>
              </a:rPr>
            </a:br>
            <a:r>
              <a:rPr lang="de-DE" dirty="0">
                <a:solidFill>
                  <a:srgbClr val="7F0000"/>
                </a:solidFill>
                <a:effectLst/>
              </a:rPr>
              <a:t>{"</a:t>
            </a:r>
            <a:r>
              <a:rPr lang="de-DE" dirty="0" err="1">
                <a:solidFill>
                  <a:srgbClr val="7F0000"/>
                </a:solidFill>
                <a:effectLst/>
              </a:rPr>
              <a:t>number</a:t>
            </a:r>
            <a:r>
              <a:rPr lang="de-DE" dirty="0">
                <a:solidFill>
                  <a:srgbClr val="7F0000"/>
                </a:solidFill>
                <a:effectLst/>
              </a:rPr>
              <a:t>": 1, "</a:t>
            </a:r>
            <a:r>
              <a:rPr lang="de-DE" dirty="0" err="1">
                <a:solidFill>
                  <a:srgbClr val="7F0000"/>
                </a:solidFill>
                <a:effectLst/>
              </a:rPr>
              <a:t>size</a:t>
            </a:r>
            <a:r>
              <a:rPr lang="de-DE" dirty="0">
                <a:solidFill>
                  <a:srgbClr val="7F0000"/>
                </a:solidFill>
                <a:effectLst/>
              </a:rPr>
              <a:t>": 512, "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additional_slave_SAE_IDs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": ["sae-3"]}</a:t>
            </a:r>
            <a:endParaRPr lang="de-DE" dirty="0">
              <a:effectLst/>
              <a:highlight>
                <a:srgbClr val="00FF00"/>
              </a:highlight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HTTP/1.1 200 OK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Server: </a:t>
            </a:r>
            <a:r>
              <a:rPr lang="de-DE" dirty="0" err="1">
                <a:solidFill>
                  <a:srgbClr val="00007F"/>
                </a:solidFill>
                <a:effectLst/>
              </a:rPr>
              <a:t>nginx</a:t>
            </a:r>
            <a:r>
              <a:rPr lang="de-DE" dirty="0">
                <a:solidFill>
                  <a:srgbClr val="00007F"/>
                </a:solidFill>
                <a:effectLst/>
              </a:rPr>
              <a:t>/1.18.0 (Ubuntu)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Date: Sat, 08 Aug 2026 13:50:32 GMT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Content-Type: </a:t>
            </a:r>
            <a:r>
              <a:rPr lang="de-DE" dirty="0" err="1">
                <a:solidFill>
                  <a:srgbClr val="00007F"/>
                </a:solidFill>
                <a:effectLst/>
              </a:rPr>
              <a:t>application</a:t>
            </a:r>
            <a:r>
              <a:rPr lang="de-DE" dirty="0">
                <a:solidFill>
                  <a:srgbClr val="00007F"/>
                </a:solidFill>
                <a:effectLst/>
              </a:rPr>
              <a:t>/</a:t>
            </a:r>
            <a:r>
              <a:rPr lang="de-DE" dirty="0" err="1">
                <a:solidFill>
                  <a:srgbClr val="00007F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</a:t>
            </a:r>
            <a:r>
              <a:rPr lang="de-DE" dirty="0" err="1">
                <a:solidFill>
                  <a:srgbClr val="00007F"/>
                </a:solidFill>
                <a:effectLst/>
              </a:rPr>
              <a:t>Length</a:t>
            </a:r>
            <a:r>
              <a:rPr lang="de-DE" dirty="0">
                <a:solidFill>
                  <a:srgbClr val="00007F"/>
                </a:solidFill>
                <a:effectLst/>
              </a:rPr>
              <a:t>: 157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00007F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Vary: </a:t>
            </a:r>
            <a:r>
              <a:rPr lang="de-DE" dirty="0" err="1">
                <a:solidFill>
                  <a:srgbClr val="00007F"/>
                </a:solidFill>
                <a:effectLst/>
              </a:rPr>
              <a:t>Accept</a:t>
            </a:r>
            <a:r>
              <a:rPr lang="de-DE" dirty="0">
                <a:solidFill>
                  <a:srgbClr val="00007F"/>
                </a:solidFill>
                <a:effectLst/>
              </a:rPr>
              <a:t>, Cookie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00007F"/>
                </a:solidFill>
                <a:effectLst/>
              </a:rPr>
              <a:t>Allow</a:t>
            </a:r>
            <a:r>
              <a:rPr lang="de-DE" dirty="0">
                <a:solidFill>
                  <a:srgbClr val="00007F"/>
                </a:solidFill>
                <a:effectLst/>
              </a:rPr>
              <a:t>: GET, POST, HEAD, OPTIONS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[…]</a:t>
            </a:r>
            <a:endParaRPr lang="de-DE" dirty="0">
              <a:effectLst/>
            </a:endParaRPr>
          </a:p>
          <a:p>
            <a:pPr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{"</a:t>
            </a:r>
            <a:r>
              <a:rPr lang="de-DE" dirty="0" err="1">
                <a:solidFill>
                  <a:srgbClr val="00007F"/>
                </a:solidFill>
                <a:effectLst/>
              </a:rPr>
              <a:t>keys</a:t>
            </a:r>
            <a:r>
              <a:rPr lang="de-DE" dirty="0">
                <a:solidFill>
                  <a:srgbClr val="00007F"/>
                </a:solidFill>
                <a:effectLst/>
              </a:rPr>
              <a:t>":[{"key_ID":"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b2a7f18f-5a72-43cb-a008-f5d82b71b77b</a:t>
            </a:r>
            <a:r>
              <a:rPr lang="de-DE" dirty="0">
                <a:solidFill>
                  <a:srgbClr val="00007F"/>
                </a:solidFill>
                <a:effectLst/>
              </a:rPr>
              <a:t>","key":"I+uuu+DaE9cl5529RzQrFyA2jmf00HPBXmsOFE9mWxCduStLJV/iWTA91AFOt23ZHJnjgZxsbB62oJbUa+f03A=="}]}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8328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09B2523E-952E-EA90-28F3-2A4018A31EEA}"/>
              </a:ext>
            </a:extLst>
          </p:cNvPr>
          <p:cNvSpPr txBox="1"/>
          <p:nvPr/>
        </p:nvSpPr>
        <p:spPr>
          <a:xfrm>
            <a:off x="428244" y="173736"/>
            <a:ext cx="551230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buNone/>
            </a:pPr>
            <a:r>
              <a:rPr lang="de-DE" b="1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GET</a:t>
            </a:r>
            <a:r>
              <a:rPr lang="de-DE" dirty="0">
                <a:solidFill>
                  <a:srgbClr val="7F0000"/>
                </a:solidFill>
                <a:effectLst/>
              </a:rPr>
              <a:t> /</a:t>
            </a:r>
            <a:r>
              <a:rPr lang="de-DE" dirty="0" err="1">
                <a:solidFill>
                  <a:srgbClr val="7F0000"/>
                </a:solidFill>
                <a:effectLst/>
              </a:rPr>
              <a:t>api</a:t>
            </a:r>
            <a:r>
              <a:rPr lang="de-DE" dirty="0">
                <a:solidFill>
                  <a:srgbClr val="7F0000"/>
                </a:solidFill>
                <a:effectLst/>
              </a:rPr>
              <a:t>/v1/</a:t>
            </a:r>
            <a:r>
              <a:rPr lang="de-DE" b="1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keys</a:t>
            </a:r>
            <a:r>
              <a:rPr lang="de-DE" dirty="0">
                <a:solidFill>
                  <a:srgbClr val="7F0000"/>
                </a:solidFill>
                <a:effectLst/>
              </a:rPr>
              <a:t>/sae-1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dec_keys</a:t>
            </a:r>
            <a:r>
              <a:rPr lang="de-DE" dirty="0" err="1">
                <a:solidFill>
                  <a:srgbClr val="7F0000"/>
                </a:solidFill>
                <a:effectLst/>
              </a:rPr>
              <a:t>?key_ID</a:t>
            </a:r>
            <a:r>
              <a:rPr lang="de-DE" dirty="0">
                <a:solidFill>
                  <a:srgbClr val="7F0000"/>
                </a:solidFill>
                <a:effectLst/>
              </a:rPr>
              <a:t>=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b2a7f18f-5a72-43cb-a008-f5d82b71b77b</a:t>
            </a:r>
            <a:r>
              <a:rPr lang="de-DE" dirty="0">
                <a:solidFill>
                  <a:srgbClr val="7F0000"/>
                </a:solidFill>
                <a:effectLst/>
              </a:rPr>
              <a:t> HTTP/1.1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-Encoding: </a:t>
            </a:r>
            <a:r>
              <a:rPr lang="de-DE" dirty="0" err="1">
                <a:solidFill>
                  <a:srgbClr val="7F0000"/>
                </a:solidFill>
                <a:effectLst/>
              </a:rPr>
              <a:t>identity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Host: 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kme-2</a:t>
            </a:r>
            <a:r>
              <a:rPr lang="de-DE" dirty="0">
                <a:solidFill>
                  <a:srgbClr val="7F0000"/>
                </a:solidFill>
                <a:effectLst/>
              </a:rPr>
              <a:t>.acct-4627.etsi-qkd-api.qukaydee.com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User-Agent: Python-</a:t>
            </a:r>
            <a:r>
              <a:rPr lang="de-DE" dirty="0" err="1">
                <a:solidFill>
                  <a:srgbClr val="7F0000"/>
                </a:solidFill>
                <a:effectLst/>
              </a:rPr>
              <a:t>urllib</a:t>
            </a:r>
            <a:r>
              <a:rPr lang="de-DE" dirty="0">
                <a:solidFill>
                  <a:srgbClr val="7F0000"/>
                </a:solidFill>
                <a:effectLst/>
              </a:rPr>
              <a:t>/3.12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: </a:t>
            </a:r>
            <a:r>
              <a:rPr lang="de-DE" dirty="0" err="1">
                <a:solidFill>
                  <a:srgbClr val="7F0000"/>
                </a:solidFill>
                <a:effectLst/>
              </a:rPr>
              <a:t>application</a:t>
            </a:r>
            <a:r>
              <a:rPr lang="de-DE" dirty="0">
                <a:solidFill>
                  <a:srgbClr val="7F0000"/>
                </a:solidFill>
                <a:effectLst/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7F0000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endParaRPr lang="de-DE" dirty="0">
              <a:solidFill>
                <a:srgbClr val="7F0000"/>
              </a:solidFill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HTTP/1.1 200 OK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Server: </a:t>
            </a:r>
            <a:r>
              <a:rPr lang="de-DE" dirty="0" err="1">
                <a:solidFill>
                  <a:srgbClr val="00007F"/>
                </a:solidFill>
                <a:effectLst/>
              </a:rPr>
              <a:t>nginx</a:t>
            </a:r>
            <a:r>
              <a:rPr lang="de-DE" dirty="0">
                <a:solidFill>
                  <a:srgbClr val="00007F"/>
                </a:solidFill>
                <a:effectLst/>
              </a:rPr>
              <a:t>/1.18.0 (Ubuntu)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Date: Sat, 08 Aug 2026 13:50:32 GMT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Content-Type: </a:t>
            </a:r>
            <a:r>
              <a:rPr lang="de-DE" dirty="0" err="1">
                <a:solidFill>
                  <a:srgbClr val="00007F"/>
                </a:solidFill>
                <a:effectLst/>
              </a:rPr>
              <a:t>application</a:t>
            </a:r>
            <a:r>
              <a:rPr lang="de-DE" dirty="0">
                <a:solidFill>
                  <a:srgbClr val="00007F"/>
                </a:solidFill>
                <a:effectLst/>
              </a:rPr>
              <a:t>/</a:t>
            </a:r>
            <a:r>
              <a:rPr lang="de-DE" dirty="0" err="1">
                <a:solidFill>
                  <a:srgbClr val="00007F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</a:t>
            </a:r>
            <a:r>
              <a:rPr lang="de-DE" dirty="0" err="1">
                <a:solidFill>
                  <a:srgbClr val="00007F"/>
                </a:solidFill>
                <a:effectLst/>
              </a:rPr>
              <a:t>Length</a:t>
            </a:r>
            <a:r>
              <a:rPr lang="de-DE" dirty="0">
                <a:solidFill>
                  <a:srgbClr val="00007F"/>
                </a:solidFill>
                <a:effectLst/>
              </a:rPr>
              <a:t>: 157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00007F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Vary: </a:t>
            </a:r>
            <a:r>
              <a:rPr lang="de-DE" dirty="0" err="1">
                <a:solidFill>
                  <a:srgbClr val="00007F"/>
                </a:solidFill>
                <a:effectLst/>
              </a:rPr>
              <a:t>Accept</a:t>
            </a:r>
            <a:r>
              <a:rPr lang="de-DE" dirty="0">
                <a:solidFill>
                  <a:srgbClr val="00007F"/>
                </a:solidFill>
                <a:effectLst/>
              </a:rPr>
              <a:t>, Cookie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00007F"/>
                </a:solidFill>
                <a:effectLst/>
              </a:rPr>
              <a:t>Allow</a:t>
            </a:r>
            <a:r>
              <a:rPr lang="de-DE" dirty="0">
                <a:solidFill>
                  <a:srgbClr val="00007F"/>
                </a:solidFill>
                <a:effectLst/>
              </a:rPr>
              <a:t>: GET, POST, HEAD, OPTIONS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[…]</a:t>
            </a:r>
            <a:endParaRPr lang="de-DE" dirty="0">
              <a:effectLst/>
            </a:endParaRPr>
          </a:p>
          <a:p>
            <a:pPr marL="0" marR="0" indent="0">
              <a:buNone/>
            </a:pPr>
            <a:endParaRPr lang="de-DE" dirty="0">
              <a:solidFill>
                <a:srgbClr val="00007F"/>
              </a:solidFill>
              <a:effectLst/>
            </a:endParaRPr>
          </a:p>
          <a:p>
            <a:pPr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{"</a:t>
            </a:r>
            <a:r>
              <a:rPr lang="de-DE" dirty="0" err="1">
                <a:solidFill>
                  <a:srgbClr val="00007F"/>
                </a:solidFill>
                <a:effectLst/>
              </a:rPr>
              <a:t>keys</a:t>
            </a:r>
            <a:r>
              <a:rPr lang="de-DE" dirty="0">
                <a:solidFill>
                  <a:srgbClr val="00007F"/>
                </a:solidFill>
                <a:effectLst/>
              </a:rPr>
              <a:t>":[{"key_ID":"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b2a7f18f-5a72-43cb-a008-f5d82b71b77b</a:t>
            </a:r>
            <a:r>
              <a:rPr lang="de-DE" dirty="0">
                <a:solidFill>
                  <a:srgbClr val="00007F"/>
                </a:solidFill>
                <a:effectLst/>
              </a:rPr>
              <a:t>","key":"I+uuu+DaE9cl5529RzQrFyA2jmf00HPBXmsOFE9mWxCduStLJV/iWTA91AFOt23ZHJnjgZxsbB62oJbUa+f03A=="}]}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7490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1035972A-B958-14F5-7232-771BC19C920B}"/>
              </a:ext>
            </a:extLst>
          </p:cNvPr>
          <p:cNvSpPr txBox="1"/>
          <p:nvPr/>
        </p:nvSpPr>
        <p:spPr>
          <a:xfrm>
            <a:off x="633222" y="189310"/>
            <a:ext cx="609447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buNone/>
            </a:pPr>
            <a:r>
              <a:rPr lang="de-DE" b="1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GET</a:t>
            </a:r>
            <a:r>
              <a:rPr lang="de-DE" dirty="0">
                <a:solidFill>
                  <a:srgbClr val="7F0000"/>
                </a:solidFill>
                <a:effectLst/>
              </a:rPr>
              <a:t> /</a:t>
            </a:r>
            <a:r>
              <a:rPr lang="de-DE" dirty="0" err="1">
                <a:solidFill>
                  <a:srgbClr val="7F0000"/>
                </a:solidFill>
                <a:effectLst/>
              </a:rPr>
              <a:t>api</a:t>
            </a:r>
            <a:r>
              <a:rPr lang="de-DE" dirty="0">
                <a:solidFill>
                  <a:srgbClr val="7F0000"/>
                </a:solidFill>
                <a:effectLst/>
              </a:rPr>
              <a:t>/v1/</a:t>
            </a:r>
            <a:r>
              <a:rPr lang="de-DE" b="1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keys</a:t>
            </a:r>
            <a:r>
              <a:rPr lang="de-DE" dirty="0">
                <a:solidFill>
                  <a:srgbClr val="7F0000"/>
                </a:solidFill>
                <a:effectLst/>
              </a:rPr>
              <a:t>/sae-1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dec_keys</a:t>
            </a:r>
            <a:r>
              <a:rPr lang="de-DE" dirty="0" err="1">
                <a:solidFill>
                  <a:srgbClr val="7F0000"/>
                </a:solidFill>
                <a:effectLst/>
              </a:rPr>
              <a:t>?key_ID</a:t>
            </a:r>
            <a:r>
              <a:rPr lang="de-DE" dirty="0">
                <a:solidFill>
                  <a:srgbClr val="7F0000"/>
                </a:solidFill>
                <a:effectLst/>
              </a:rPr>
              <a:t>=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b2a7f18f-5a72-43cb-a008-f5d82b71b77b</a:t>
            </a:r>
            <a:r>
              <a:rPr lang="de-DE" dirty="0">
                <a:solidFill>
                  <a:srgbClr val="7F0000"/>
                </a:solidFill>
                <a:effectLst/>
              </a:rPr>
              <a:t> HTTP/1.1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-Encoding: </a:t>
            </a:r>
            <a:r>
              <a:rPr lang="de-DE" dirty="0" err="1">
                <a:solidFill>
                  <a:srgbClr val="7F0000"/>
                </a:solidFill>
                <a:effectLst/>
              </a:rPr>
              <a:t>identity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Host</a:t>
            </a:r>
            <a:r>
              <a:rPr lang="de-DE" dirty="0">
                <a:solidFill>
                  <a:srgbClr val="7F0000"/>
                </a:solidFill>
                <a:effectLst/>
                <a:highlight>
                  <a:srgbClr val="00FF00"/>
                </a:highlight>
              </a:rPr>
              <a:t>: kme-3.</a:t>
            </a:r>
            <a:r>
              <a:rPr lang="de-DE" dirty="0">
                <a:solidFill>
                  <a:srgbClr val="7F0000"/>
                </a:solidFill>
                <a:effectLst/>
              </a:rPr>
              <a:t>acct-4627.etsi-qkd-api.qukaydee.com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User-Agent: Python-</a:t>
            </a:r>
            <a:r>
              <a:rPr lang="de-DE" dirty="0" err="1">
                <a:solidFill>
                  <a:srgbClr val="7F0000"/>
                </a:solidFill>
                <a:effectLst/>
              </a:rPr>
              <a:t>urllib</a:t>
            </a:r>
            <a:r>
              <a:rPr lang="de-DE" dirty="0">
                <a:solidFill>
                  <a:srgbClr val="7F0000"/>
                </a:solidFill>
                <a:effectLst/>
              </a:rPr>
              <a:t>/3.12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7F0000"/>
                </a:solidFill>
                <a:effectLst/>
              </a:rPr>
              <a:t>Accept</a:t>
            </a:r>
            <a:r>
              <a:rPr lang="de-DE" dirty="0">
                <a:solidFill>
                  <a:srgbClr val="7F0000"/>
                </a:solidFill>
                <a:effectLst/>
              </a:rPr>
              <a:t>: </a:t>
            </a:r>
            <a:r>
              <a:rPr lang="de-DE" dirty="0" err="1">
                <a:solidFill>
                  <a:srgbClr val="7F0000"/>
                </a:solidFill>
                <a:effectLst/>
              </a:rPr>
              <a:t>application</a:t>
            </a:r>
            <a:r>
              <a:rPr lang="de-DE" dirty="0">
                <a:solidFill>
                  <a:srgbClr val="7F0000"/>
                </a:solidFill>
                <a:effectLst/>
              </a:rPr>
              <a:t>/</a:t>
            </a:r>
            <a:r>
              <a:rPr lang="de-DE" dirty="0" err="1">
                <a:solidFill>
                  <a:srgbClr val="7F0000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7F0000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7F0000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endParaRPr lang="de-DE" dirty="0">
              <a:solidFill>
                <a:srgbClr val="7F0000"/>
              </a:solidFill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HTTP/1.1 200 OK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Server: </a:t>
            </a:r>
            <a:r>
              <a:rPr lang="de-DE" dirty="0" err="1">
                <a:solidFill>
                  <a:srgbClr val="00007F"/>
                </a:solidFill>
                <a:effectLst/>
              </a:rPr>
              <a:t>nginx</a:t>
            </a:r>
            <a:r>
              <a:rPr lang="de-DE" dirty="0">
                <a:solidFill>
                  <a:srgbClr val="00007F"/>
                </a:solidFill>
                <a:effectLst/>
              </a:rPr>
              <a:t>/1.18.0 (Ubuntu)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Date: Sat, 08 Aug 2026 13:50:33 GMT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Content-Type: </a:t>
            </a:r>
            <a:r>
              <a:rPr lang="de-DE" dirty="0" err="1">
                <a:solidFill>
                  <a:srgbClr val="00007F"/>
                </a:solidFill>
                <a:effectLst/>
              </a:rPr>
              <a:t>application</a:t>
            </a:r>
            <a:r>
              <a:rPr lang="de-DE" dirty="0">
                <a:solidFill>
                  <a:srgbClr val="00007F"/>
                </a:solidFill>
                <a:effectLst/>
              </a:rPr>
              <a:t>/</a:t>
            </a:r>
            <a:r>
              <a:rPr lang="de-DE" dirty="0" err="1">
                <a:solidFill>
                  <a:srgbClr val="00007F"/>
                </a:solidFill>
                <a:effectLst/>
              </a:rPr>
              <a:t>json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Content-</a:t>
            </a:r>
            <a:r>
              <a:rPr lang="de-DE" dirty="0" err="1">
                <a:solidFill>
                  <a:srgbClr val="00007F"/>
                </a:solidFill>
                <a:effectLst/>
              </a:rPr>
              <a:t>Length</a:t>
            </a:r>
            <a:r>
              <a:rPr lang="de-DE" dirty="0">
                <a:solidFill>
                  <a:srgbClr val="00007F"/>
                </a:solidFill>
                <a:effectLst/>
              </a:rPr>
              <a:t>: 157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Connection: </a:t>
            </a:r>
            <a:r>
              <a:rPr lang="de-DE" dirty="0" err="1">
                <a:solidFill>
                  <a:srgbClr val="00007F"/>
                </a:solidFill>
                <a:effectLst/>
              </a:rPr>
              <a:t>close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Vary: </a:t>
            </a:r>
            <a:r>
              <a:rPr lang="de-DE" dirty="0" err="1">
                <a:solidFill>
                  <a:srgbClr val="00007F"/>
                </a:solidFill>
                <a:effectLst/>
              </a:rPr>
              <a:t>Accept</a:t>
            </a:r>
            <a:r>
              <a:rPr lang="de-DE" dirty="0">
                <a:solidFill>
                  <a:srgbClr val="00007F"/>
                </a:solidFill>
                <a:effectLst/>
              </a:rPr>
              <a:t>, Cookie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 err="1">
                <a:solidFill>
                  <a:srgbClr val="00007F"/>
                </a:solidFill>
                <a:effectLst/>
              </a:rPr>
              <a:t>Allow</a:t>
            </a:r>
            <a:r>
              <a:rPr lang="de-DE" dirty="0">
                <a:solidFill>
                  <a:srgbClr val="00007F"/>
                </a:solidFill>
                <a:effectLst/>
              </a:rPr>
              <a:t>: GET, POST, HEAD, OPTIONS</a:t>
            </a:r>
            <a:endParaRPr lang="de-DE" dirty="0">
              <a:effectLst/>
            </a:endParaRPr>
          </a:p>
          <a:p>
            <a:pPr marL="0" marR="0" indent="0"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[…]</a:t>
            </a:r>
            <a:endParaRPr lang="de-DE" dirty="0">
              <a:effectLst/>
            </a:endParaRPr>
          </a:p>
          <a:p>
            <a:pPr>
              <a:buNone/>
            </a:pPr>
            <a:r>
              <a:rPr lang="de-DE" dirty="0">
                <a:solidFill>
                  <a:srgbClr val="00007F"/>
                </a:solidFill>
                <a:effectLst/>
              </a:rPr>
              <a:t>{"</a:t>
            </a:r>
            <a:r>
              <a:rPr lang="de-DE" dirty="0" err="1">
                <a:solidFill>
                  <a:srgbClr val="00007F"/>
                </a:solidFill>
                <a:effectLst/>
              </a:rPr>
              <a:t>keys</a:t>
            </a:r>
            <a:r>
              <a:rPr lang="de-DE" dirty="0">
                <a:solidFill>
                  <a:srgbClr val="00007F"/>
                </a:solidFill>
                <a:effectLst/>
              </a:rPr>
              <a:t>":[{"key_ID":"</a:t>
            </a:r>
            <a:r>
              <a:rPr lang="de-DE" dirty="0">
                <a:solidFill>
                  <a:srgbClr val="00007F"/>
                </a:solidFill>
                <a:effectLst/>
                <a:highlight>
                  <a:srgbClr val="00FF00"/>
                </a:highlight>
              </a:rPr>
              <a:t>b2a7f18f-5a72-43cb-a008-f5d82b71b77b</a:t>
            </a:r>
            <a:r>
              <a:rPr lang="de-DE" dirty="0">
                <a:solidFill>
                  <a:srgbClr val="00007F"/>
                </a:solidFill>
                <a:effectLst/>
              </a:rPr>
              <a:t>","key":"I+uuu+DaE9cl5529RzQrFyA2jmf00HPBXmsOFE9mWxCduStLJV/iWTA91AFOt23ZHJnjgZxsbB62oJbUa+f03A=="}]}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8686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1210</Words>
  <Application>Microsoft Office PowerPoint</Application>
  <PresentationFormat>Breitbild</PresentationFormat>
  <Paragraphs>172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MassonJulien</dc:creator>
  <cp:lastModifiedBy>MassonJulien</cp:lastModifiedBy>
  <cp:revision>21</cp:revision>
  <dcterms:created xsi:type="dcterms:W3CDTF">2026-08-06T13:44:43Z</dcterms:created>
  <dcterms:modified xsi:type="dcterms:W3CDTF">2026-08-09T17:39:16Z</dcterms:modified>
</cp:coreProperties>
</file>